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charset="1" panose="02020603050405020304"/>
      <p:regular r:id="rId16"/>
    </p:embeddedFont>
    <p:embeddedFont>
      <p:font typeface="Archivo Black" charset="1" panose="020B0A03020202020B04"/>
      <p:regular r:id="rId17"/>
    </p:embeddedFont>
    <p:embeddedFont>
      <p:font typeface="Red Hat Display" charset="1" panose="02010503040201060303"/>
      <p:regular r:id="rId18"/>
    </p:embeddedFont>
    <p:embeddedFont>
      <p:font typeface="Times New Roman Bold" charset="1" panose="020208030705050203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jpeg" Type="http://schemas.openxmlformats.org/officeDocument/2006/relationships/image"/><Relationship Id="rId7"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3.jpe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885024" y="2131423"/>
            <a:ext cx="11695306" cy="2007236"/>
          </a:xfrm>
          <a:prstGeom prst="rect">
            <a:avLst/>
          </a:prstGeom>
        </p:spPr>
        <p:txBody>
          <a:bodyPr anchor="t" rtlCol="false" tIns="0" lIns="0" bIns="0" rIns="0">
            <a:spAutoFit/>
          </a:bodyPr>
          <a:lstStyle/>
          <a:p>
            <a:pPr algn="l">
              <a:lnSpc>
                <a:spcPts val="7520"/>
              </a:lnSpc>
            </a:pPr>
            <a:r>
              <a:rPr lang="en-US" sz="8000">
                <a:solidFill>
                  <a:srgbClr val="FFFFFF"/>
                </a:solidFill>
                <a:latin typeface="Times New Roman"/>
                <a:ea typeface="Times New Roman"/>
                <a:cs typeface="Times New Roman"/>
                <a:sym typeface="Times New Roman"/>
              </a:rPr>
              <a:t>OLA Ride Booking Analysis Dashboard</a:t>
            </a:r>
          </a:p>
        </p:txBody>
      </p:sp>
      <p:sp>
        <p:nvSpPr>
          <p:cNvPr name="Freeform 4" id="4"/>
          <p:cNvSpPr/>
          <p:nvPr/>
        </p:nvSpPr>
        <p:spPr>
          <a:xfrm flipH="false" flipV="true" rot="-1542318">
            <a:off x="13081899" y="1257079"/>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3"/>
            <a:stretch>
              <a:fillRect l="0" t="0" r="0" b="0"/>
            </a:stretch>
          </a:blipFill>
        </p:spPr>
      </p:sp>
      <p:sp>
        <p:nvSpPr>
          <p:cNvPr name="Freeform 5" id="5"/>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4"/>
            <a:stretch>
              <a:fillRect l="0" t="0" r="0" b="0"/>
            </a:stretch>
          </a:blipFill>
        </p:spPr>
      </p:sp>
      <p:sp>
        <p:nvSpPr>
          <p:cNvPr name="TextBox 6" id="6"/>
          <p:cNvSpPr txBox="true"/>
          <p:nvPr/>
        </p:nvSpPr>
        <p:spPr>
          <a:xfrm rot="0">
            <a:off x="1028700" y="6803614"/>
            <a:ext cx="3625565" cy="1280160"/>
          </a:xfrm>
          <a:prstGeom prst="rect">
            <a:avLst/>
          </a:prstGeom>
        </p:spPr>
        <p:txBody>
          <a:bodyPr anchor="t" rtlCol="false" tIns="0" lIns="0" bIns="0" rIns="0">
            <a:spAutoFit/>
          </a:bodyPr>
          <a:lstStyle/>
          <a:p>
            <a:pPr algn="l">
              <a:lnSpc>
                <a:spcPts val="5040"/>
              </a:lnSpc>
              <a:spcBef>
                <a:spcPct val="0"/>
              </a:spcBef>
            </a:pPr>
            <a:r>
              <a:rPr lang="en-US" sz="3600">
                <a:solidFill>
                  <a:srgbClr val="F4F4ED"/>
                </a:solidFill>
                <a:latin typeface="Times New Roman"/>
                <a:ea typeface="Times New Roman"/>
                <a:cs typeface="Times New Roman"/>
                <a:sym typeface="Times New Roman"/>
              </a:rPr>
              <a:t>Presented by Siddartha Reddy </a:t>
            </a:r>
          </a:p>
        </p:txBody>
      </p:sp>
      <p:sp>
        <p:nvSpPr>
          <p:cNvPr name="TextBox 7" id="7"/>
          <p:cNvSpPr txBox="true"/>
          <p:nvPr/>
        </p:nvSpPr>
        <p:spPr>
          <a:xfrm rot="0">
            <a:off x="7385849" y="6803614"/>
            <a:ext cx="4291012" cy="1280160"/>
          </a:xfrm>
          <a:prstGeom prst="rect">
            <a:avLst/>
          </a:prstGeom>
        </p:spPr>
        <p:txBody>
          <a:bodyPr anchor="t" rtlCol="false" tIns="0" lIns="0" bIns="0" rIns="0">
            <a:spAutoFit/>
          </a:bodyPr>
          <a:lstStyle/>
          <a:p>
            <a:pPr algn="ctr">
              <a:lnSpc>
                <a:spcPts val="5040"/>
              </a:lnSpc>
              <a:spcBef>
                <a:spcPct val="0"/>
              </a:spcBef>
            </a:pPr>
            <a:r>
              <a:rPr lang="en-US" sz="3600">
                <a:solidFill>
                  <a:srgbClr val="FFFFFF"/>
                </a:solidFill>
                <a:latin typeface="Times New Roman"/>
                <a:ea typeface="Times New Roman"/>
                <a:cs typeface="Times New Roman"/>
                <a:sym typeface="Times New Roman"/>
              </a:rPr>
              <a:t>Unde</a:t>
            </a:r>
            <a:r>
              <a:rPr lang="en-US" sz="3600">
                <a:solidFill>
                  <a:srgbClr val="FFFFFF"/>
                </a:solidFill>
                <a:latin typeface="Times New Roman"/>
                <a:ea typeface="Times New Roman"/>
                <a:cs typeface="Times New Roman"/>
                <a:sym typeface="Times New Roman"/>
              </a:rPr>
              <a:t>r the Guidance of </a:t>
            </a:r>
          </a:p>
          <a:p>
            <a:pPr algn="ctr">
              <a:lnSpc>
                <a:spcPts val="5040"/>
              </a:lnSpc>
              <a:spcBef>
                <a:spcPct val="0"/>
              </a:spcBef>
            </a:pPr>
            <a:r>
              <a:rPr lang="en-US" sz="3600">
                <a:solidFill>
                  <a:srgbClr val="FFFFFF"/>
                </a:solidFill>
                <a:latin typeface="Times New Roman"/>
                <a:ea typeface="Times New Roman"/>
                <a:cs typeface="Times New Roman"/>
                <a:sym typeface="Times New Roman"/>
              </a:rPr>
              <a:t>SHADIYA P 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4255355" y="46215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855290" y="1376596"/>
            <a:ext cx="14337656" cy="7406694"/>
            <a:chOff x="0" y="0"/>
            <a:chExt cx="19116874" cy="9875592"/>
          </a:xfrm>
        </p:grpSpPr>
        <p:grpSp>
          <p:nvGrpSpPr>
            <p:cNvPr name="Group 6" id="6"/>
            <p:cNvGrpSpPr/>
            <p:nvPr/>
          </p:nvGrpSpPr>
          <p:grpSpPr>
            <a:xfrm rot="0">
              <a:off x="0" y="0"/>
              <a:ext cx="19116874" cy="9875592"/>
              <a:chOff x="0" y="0"/>
              <a:chExt cx="3166373" cy="1635718"/>
            </a:xfrm>
          </p:grpSpPr>
          <p:sp>
            <p:nvSpPr>
              <p:cNvPr name="Freeform 7" id="7"/>
              <p:cNvSpPr/>
              <p:nvPr/>
            </p:nvSpPr>
            <p:spPr>
              <a:xfrm flipH="false" flipV="false" rot="0">
                <a:off x="0" y="0"/>
                <a:ext cx="3166373" cy="1635718"/>
              </a:xfrm>
              <a:custGeom>
                <a:avLst/>
                <a:gdLst/>
                <a:ahLst/>
                <a:cxnLst/>
                <a:rect r="r" b="b" t="t" l="l"/>
                <a:pathLst>
                  <a:path h="1635718" w="3166373">
                    <a:moveTo>
                      <a:pt x="12879" y="0"/>
                    </a:moveTo>
                    <a:lnTo>
                      <a:pt x="3153493" y="0"/>
                    </a:lnTo>
                    <a:cubicBezTo>
                      <a:pt x="3160606" y="0"/>
                      <a:pt x="3166373" y="5766"/>
                      <a:pt x="3166373" y="12879"/>
                    </a:cubicBezTo>
                    <a:lnTo>
                      <a:pt x="3166373" y="1622838"/>
                    </a:lnTo>
                    <a:cubicBezTo>
                      <a:pt x="3166373" y="1626254"/>
                      <a:pt x="3165016" y="1629530"/>
                      <a:pt x="3162600" y="1631945"/>
                    </a:cubicBezTo>
                    <a:cubicBezTo>
                      <a:pt x="3160185" y="1634361"/>
                      <a:pt x="3156909" y="1635718"/>
                      <a:pt x="3153493" y="1635718"/>
                    </a:cubicBezTo>
                    <a:lnTo>
                      <a:pt x="12879" y="1635718"/>
                    </a:lnTo>
                    <a:cubicBezTo>
                      <a:pt x="5766" y="1635718"/>
                      <a:pt x="0" y="1629951"/>
                      <a:pt x="0" y="1622838"/>
                    </a:cubicBezTo>
                    <a:lnTo>
                      <a:pt x="0" y="12879"/>
                    </a:lnTo>
                    <a:cubicBezTo>
                      <a:pt x="0" y="5766"/>
                      <a:pt x="5766" y="0"/>
                      <a:pt x="12879" y="0"/>
                    </a:cubicBezTo>
                    <a:close/>
                  </a:path>
                </a:pathLst>
              </a:custGeom>
              <a:solidFill>
                <a:srgbClr val="04001E"/>
              </a:solidFill>
              <a:ln w="38100" cap="sq">
                <a:solidFill>
                  <a:srgbClr val="E5E1DA"/>
                </a:solidFill>
                <a:prstDash val="solid"/>
                <a:miter/>
              </a:ln>
            </p:spPr>
          </p:sp>
          <p:sp>
            <p:nvSpPr>
              <p:cNvPr name="TextBox 8" id="8"/>
              <p:cNvSpPr txBox="true"/>
              <p:nvPr/>
            </p:nvSpPr>
            <p:spPr>
              <a:xfrm>
                <a:off x="0" y="-38100"/>
                <a:ext cx="3166373" cy="1673818"/>
              </a:xfrm>
              <a:prstGeom prst="rect">
                <a:avLst/>
              </a:prstGeom>
            </p:spPr>
            <p:txBody>
              <a:bodyPr anchor="ctr" rtlCol="false" tIns="50800" lIns="50800" bIns="50800" rIns="50800"/>
              <a:lstStyle/>
              <a:p>
                <a:pPr algn="ctr">
                  <a:lnSpc>
                    <a:spcPts val="2660"/>
                  </a:lnSpc>
                </a:pPr>
              </a:p>
            </p:txBody>
          </p:sp>
        </p:grpSp>
        <p:sp>
          <p:nvSpPr>
            <p:cNvPr name="TextBox 9" id="9"/>
            <p:cNvSpPr txBox="true"/>
            <p:nvPr/>
          </p:nvSpPr>
          <p:spPr>
            <a:xfrm rot="0">
              <a:off x="1359479" y="1198613"/>
              <a:ext cx="15850051" cy="920030"/>
            </a:xfrm>
            <a:prstGeom prst="rect">
              <a:avLst/>
            </a:prstGeom>
          </p:spPr>
          <p:txBody>
            <a:bodyPr anchor="t" rtlCol="false" tIns="0" lIns="0" bIns="0" rIns="0">
              <a:spAutoFit/>
            </a:bodyPr>
            <a:lstStyle/>
            <a:p>
              <a:pPr algn="l">
                <a:lnSpc>
                  <a:spcPts val="4858"/>
                </a:lnSpc>
              </a:pPr>
              <a:r>
                <a:rPr lang="en-US" sz="5008">
                  <a:solidFill>
                    <a:srgbClr val="F4F4ED"/>
                  </a:solidFill>
                  <a:latin typeface="Archivo Black"/>
                  <a:ea typeface="Archivo Black"/>
                  <a:cs typeface="Archivo Black"/>
                  <a:sym typeface="Archivo Black"/>
                </a:rPr>
                <a:t>Abstract</a:t>
              </a:r>
            </a:p>
          </p:txBody>
        </p:sp>
        <p:sp>
          <p:nvSpPr>
            <p:cNvPr name="TextBox 10" id="10"/>
            <p:cNvSpPr txBox="true"/>
            <p:nvPr/>
          </p:nvSpPr>
          <p:spPr>
            <a:xfrm rot="0">
              <a:off x="1536538" y="2695303"/>
              <a:ext cx="16630587" cy="5882100"/>
            </a:xfrm>
            <a:prstGeom prst="rect">
              <a:avLst/>
            </a:prstGeom>
          </p:spPr>
          <p:txBody>
            <a:bodyPr anchor="t" rtlCol="false" tIns="0" lIns="0" bIns="0" rIns="0">
              <a:spAutoFit/>
            </a:bodyPr>
            <a:lstStyle/>
            <a:p>
              <a:pPr algn="l" marL="0" indent="0" lvl="0">
                <a:lnSpc>
                  <a:spcPts val="3566"/>
                </a:lnSpc>
                <a:spcBef>
                  <a:spcPct val="0"/>
                </a:spcBef>
              </a:pPr>
              <a:r>
                <a:rPr lang="en-US" sz="2641" spc="158">
                  <a:solidFill>
                    <a:srgbClr val="F4F4ED"/>
                  </a:solidFill>
                  <a:latin typeface="Red Hat Display"/>
                  <a:ea typeface="Red Hat Display"/>
                  <a:cs typeface="Red Hat Display"/>
                  <a:sym typeface="Red Hat Display"/>
                </a:rPr>
                <a:t>Th</a:t>
              </a:r>
              <a:r>
                <a:rPr lang="en-US" sz="2641" spc="158" u="none">
                  <a:solidFill>
                    <a:srgbClr val="F4F4ED"/>
                  </a:solidFill>
                  <a:latin typeface="Red Hat Display"/>
                  <a:ea typeface="Red Hat Display"/>
                  <a:cs typeface="Red Hat Display"/>
                  <a:sym typeface="Red Hat Display"/>
                </a:rPr>
                <a:t>e Ola Ride Booking Analysis Dashboard is designed to analyze ride booking data and generate meaningful business insights using Power BI. The project focuses on understanding booking trends, customer behavior, vehicle performance, revenue generation, ride cancellations, and customer satisfaction. By transforming raw ride data into interactive visualizations, the dashboard enables better decision-making and helps identify patterns that can improve operational efficiency, enhance customer experience, and support business growth. This project demonstrates the practical application of data analytics, SQL, and Power BI in solving real-world transportation and mobility challenges.</a:t>
              </a:r>
            </a:p>
          </p:txBody>
        </p:sp>
      </p:grpSp>
      <p:sp>
        <p:nvSpPr>
          <p:cNvPr name="Freeform 11" id="11"/>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471356" y="-384020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grpSp>
        <p:nvGrpSpPr>
          <p:cNvPr name="Group 4" id="4"/>
          <p:cNvGrpSpPr/>
          <p:nvPr/>
        </p:nvGrpSpPr>
        <p:grpSpPr>
          <a:xfrm rot="0">
            <a:off x="1738957" y="1185835"/>
            <a:ext cx="14810085" cy="7915329"/>
            <a:chOff x="0" y="0"/>
            <a:chExt cx="19746780" cy="10553773"/>
          </a:xfrm>
        </p:grpSpPr>
        <p:grpSp>
          <p:nvGrpSpPr>
            <p:cNvPr name="Group 5" id="5"/>
            <p:cNvGrpSpPr/>
            <p:nvPr/>
          </p:nvGrpSpPr>
          <p:grpSpPr>
            <a:xfrm rot="0">
              <a:off x="0" y="0"/>
              <a:ext cx="19746780" cy="10553773"/>
              <a:chOff x="0" y="0"/>
              <a:chExt cx="3744391" cy="2001210"/>
            </a:xfrm>
          </p:grpSpPr>
          <p:sp>
            <p:nvSpPr>
              <p:cNvPr name="Freeform 6" id="6"/>
              <p:cNvSpPr/>
              <p:nvPr/>
            </p:nvSpPr>
            <p:spPr>
              <a:xfrm flipH="false" flipV="false" rot="0">
                <a:off x="0" y="0"/>
                <a:ext cx="3744391" cy="2001210"/>
              </a:xfrm>
              <a:custGeom>
                <a:avLst/>
                <a:gdLst/>
                <a:ahLst/>
                <a:cxnLst/>
                <a:rect r="r" b="b" t="t" l="l"/>
                <a:pathLst>
                  <a:path h="2001210" w="3744391">
                    <a:moveTo>
                      <a:pt x="10891" y="0"/>
                    </a:moveTo>
                    <a:lnTo>
                      <a:pt x="3733500" y="0"/>
                    </a:lnTo>
                    <a:cubicBezTo>
                      <a:pt x="3736389" y="0"/>
                      <a:pt x="3739159" y="1147"/>
                      <a:pt x="3741201" y="3190"/>
                    </a:cubicBezTo>
                    <a:cubicBezTo>
                      <a:pt x="3743244" y="5232"/>
                      <a:pt x="3744391" y="8003"/>
                      <a:pt x="3744391" y="10891"/>
                    </a:cubicBezTo>
                    <a:lnTo>
                      <a:pt x="3744391" y="1990319"/>
                    </a:lnTo>
                    <a:cubicBezTo>
                      <a:pt x="3744391" y="1996334"/>
                      <a:pt x="3739515" y="2001210"/>
                      <a:pt x="3733500" y="2001210"/>
                    </a:cubicBezTo>
                    <a:lnTo>
                      <a:pt x="10891" y="2001210"/>
                    </a:lnTo>
                    <a:cubicBezTo>
                      <a:pt x="8003" y="2001210"/>
                      <a:pt x="5232" y="2000062"/>
                      <a:pt x="3190" y="1998020"/>
                    </a:cubicBezTo>
                    <a:cubicBezTo>
                      <a:pt x="1147" y="1995977"/>
                      <a:pt x="0" y="1993207"/>
                      <a:pt x="0" y="1990319"/>
                    </a:cubicBezTo>
                    <a:lnTo>
                      <a:pt x="0" y="10891"/>
                    </a:lnTo>
                    <a:cubicBezTo>
                      <a:pt x="0" y="8003"/>
                      <a:pt x="1147" y="5232"/>
                      <a:pt x="3190" y="3190"/>
                    </a:cubicBezTo>
                    <a:cubicBezTo>
                      <a:pt x="5232" y="1147"/>
                      <a:pt x="8003" y="0"/>
                      <a:pt x="10891" y="0"/>
                    </a:cubicBezTo>
                    <a:close/>
                  </a:path>
                </a:pathLst>
              </a:custGeom>
              <a:solidFill>
                <a:srgbClr val="04001E"/>
              </a:solidFill>
              <a:ln w="38100" cap="sq">
                <a:solidFill>
                  <a:srgbClr val="E5E1DA"/>
                </a:solidFill>
                <a:prstDash val="solid"/>
                <a:miter/>
              </a:ln>
            </p:spPr>
          </p:sp>
          <p:sp>
            <p:nvSpPr>
              <p:cNvPr name="TextBox 7" id="7"/>
              <p:cNvSpPr txBox="true"/>
              <p:nvPr/>
            </p:nvSpPr>
            <p:spPr>
              <a:xfrm>
                <a:off x="0" y="-66675"/>
                <a:ext cx="3744391" cy="2067885"/>
              </a:xfrm>
              <a:prstGeom prst="rect">
                <a:avLst/>
              </a:prstGeom>
            </p:spPr>
            <p:txBody>
              <a:bodyPr anchor="ctr" rtlCol="false" tIns="50800" lIns="50800" bIns="50800" rIns="50800"/>
              <a:lstStyle/>
              <a:p>
                <a:pPr algn="ctr">
                  <a:lnSpc>
                    <a:spcPts val="3919"/>
                  </a:lnSpc>
                </a:pPr>
              </a:p>
            </p:txBody>
          </p:sp>
        </p:grpSp>
        <p:sp>
          <p:nvSpPr>
            <p:cNvPr name="TextBox 8" id="8"/>
            <p:cNvSpPr txBox="true"/>
            <p:nvPr/>
          </p:nvSpPr>
          <p:spPr>
            <a:xfrm rot="0">
              <a:off x="817788" y="1220499"/>
              <a:ext cx="17093988" cy="971378"/>
            </a:xfrm>
            <a:prstGeom prst="rect">
              <a:avLst/>
            </a:prstGeom>
          </p:spPr>
          <p:txBody>
            <a:bodyPr anchor="t" rtlCol="false" tIns="0" lIns="0" bIns="0" rIns="0">
              <a:spAutoFit/>
            </a:bodyPr>
            <a:lstStyle/>
            <a:p>
              <a:pPr algn="l">
                <a:lnSpc>
                  <a:spcPts val="5214"/>
                </a:lnSpc>
              </a:pPr>
              <a:r>
                <a:rPr lang="en-US" sz="5376">
                  <a:solidFill>
                    <a:srgbClr val="FFFFFF"/>
                  </a:solidFill>
                  <a:latin typeface="Archivo Black"/>
                  <a:ea typeface="Archivo Black"/>
                  <a:cs typeface="Archivo Black"/>
                  <a:sym typeface="Archivo Black"/>
                </a:rPr>
                <a:t>Problem Statement</a:t>
              </a:r>
            </a:p>
          </p:txBody>
        </p:sp>
        <p:sp>
          <p:nvSpPr>
            <p:cNvPr name="TextBox 9" id="9"/>
            <p:cNvSpPr txBox="true"/>
            <p:nvPr/>
          </p:nvSpPr>
          <p:spPr>
            <a:xfrm rot="0">
              <a:off x="1474293" y="2882283"/>
              <a:ext cx="15302974" cy="6419766"/>
            </a:xfrm>
            <a:prstGeom prst="rect">
              <a:avLst/>
            </a:prstGeom>
          </p:spPr>
          <p:txBody>
            <a:bodyPr anchor="t" rtlCol="false" tIns="0" lIns="0" bIns="0" rIns="0">
              <a:spAutoFit/>
            </a:bodyPr>
            <a:lstStyle/>
            <a:p>
              <a:pPr algn="l" marL="687139" indent="-343569" lvl="1">
                <a:lnSpc>
                  <a:spcPts val="4296"/>
                </a:lnSpc>
                <a:buFont typeface="Arial"/>
                <a:buChar char="•"/>
              </a:pPr>
              <a:r>
                <a:rPr lang="en-US" sz="3182" spc="190">
                  <a:solidFill>
                    <a:srgbClr val="FFFFFF"/>
                  </a:solidFill>
                  <a:latin typeface="Red Hat Display"/>
                  <a:ea typeface="Red Hat Display"/>
                  <a:cs typeface="Red Hat Display"/>
                  <a:sym typeface="Red Hat Display"/>
                </a:rPr>
                <a:t>Large volumes of ride booking data make manual analysis difficult and time-consuming.</a:t>
              </a:r>
            </a:p>
            <a:p>
              <a:pPr algn="l" marL="687139" indent="-343569" lvl="1">
                <a:lnSpc>
                  <a:spcPts val="4296"/>
                </a:lnSpc>
                <a:buFont typeface="Arial"/>
                <a:buChar char="•"/>
              </a:pPr>
              <a:r>
                <a:rPr lang="en-US" sz="3182" spc="190">
                  <a:solidFill>
                    <a:srgbClr val="FFFFFF"/>
                  </a:solidFill>
                  <a:latin typeface="Red Hat Display"/>
                  <a:ea typeface="Red Hat Display"/>
                  <a:cs typeface="Red Hat Display"/>
                  <a:sym typeface="Red Hat Display"/>
                </a:rPr>
                <a:t>Business insights related to bookings, cancellations, revenue, and customer satisfaction are not easily visible from raw data.</a:t>
              </a:r>
            </a:p>
            <a:p>
              <a:pPr algn="l" marL="687139" indent="-343569" lvl="1">
                <a:lnSpc>
                  <a:spcPts val="4296"/>
                </a:lnSpc>
                <a:buFont typeface="Arial"/>
                <a:buChar char="•"/>
              </a:pPr>
              <a:r>
                <a:rPr lang="en-US" sz="3182" spc="190">
                  <a:solidFill>
                    <a:srgbClr val="FFFFFF"/>
                  </a:solidFill>
                  <a:latin typeface="Red Hat Display"/>
                  <a:ea typeface="Red Hat Display"/>
                  <a:cs typeface="Red Hat Display"/>
                  <a:sym typeface="Red Hat Display"/>
                </a:rPr>
                <a:t>An interactive Power BI dashboard is needed to transform raw ride data into actionable insights for better decision-making.</a:t>
              </a:r>
            </a:p>
            <a:p>
              <a:pPr algn="l" marL="0" indent="0" lvl="0">
                <a:lnSpc>
                  <a:spcPts val="4296"/>
                </a:lnSpc>
                <a:spcBef>
                  <a:spcPct val="0"/>
                </a:spcBef>
              </a:pPr>
            </a:p>
          </p:txBody>
        </p:sp>
      </p:grpSp>
      <p:sp>
        <p:nvSpPr>
          <p:cNvPr name="Freeform 10" id="10"/>
          <p:cNvSpPr/>
          <p:nvPr/>
        </p:nvSpPr>
        <p:spPr>
          <a:xfrm flipH="false" flipV="false" rot="0">
            <a:off x="16811090" y="881009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TextBox 3" id="3"/>
          <p:cNvSpPr txBox="true"/>
          <p:nvPr/>
        </p:nvSpPr>
        <p:spPr>
          <a:xfrm rot="0">
            <a:off x="4606287" y="279571"/>
            <a:ext cx="8572554" cy="1858137"/>
          </a:xfrm>
          <a:prstGeom prst="rect">
            <a:avLst/>
          </a:prstGeom>
        </p:spPr>
        <p:txBody>
          <a:bodyPr anchor="t" rtlCol="false" tIns="0" lIns="0" bIns="0" rIns="0">
            <a:spAutoFit/>
          </a:bodyPr>
          <a:lstStyle/>
          <a:p>
            <a:pPr algn="ctr">
              <a:lnSpc>
                <a:spcPts val="6984"/>
              </a:lnSpc>
            </a:pPr>
            <a:r>
              <a:rPr lang="en-US" sz="7200" b="true">
                <a:solidFill>
                  <a:srgbClr val="FFFFFF"/>
                </a:solidFill>
                <a:latin typeface="Times New Roman Bold"/>
                <a:ea typeface="Times New Roman Bold"/>
                <a:cs typeface="Times New Roman Bold"/>
                <a:sym typeface="Times New Roman Bold"/>
              </a:rPr>
              <a:t>Data Cleaning &amp;</a:t>
            </a:r>
          </a:p>
          <a:p>
            <a:pPr algn="ctr" marL="0" indent="0" lvl="1">
              <a:lnSpc>
                <a:spcPts val="6984"/>
              </a:lnSpc>
              <a:spcBef>
                <a:spcPct val="0"/>
              </a:spcBef>
            </a:pPr>
            <a:r>
              <a:rPr lang="en-US" b="true" sz="7200">
                <a:solidFill>
                  <a:srgbClr val="FFFFFF"/>
                </a:solidFill>
                <a:latin typeface="Times New Roman Bold"/>
                <a:ea typeface="Times New Roman Bold"/>
                <a:cs typeface="Times New Roman Bold"/>
                <a:sym typeface="Times New Roman Bold"/>
              </a:rPr>
              <a:t> Preprocessing </a:t>
            </a:r>
          </a:p>
        </p:txBody>
      </p:sp>
      <p:grpSp>
        <p:nvGrpSpPr>
          <p:cNvPr name="Group 4" id="4"/>
          <p:cNvGrpSpPr/>
          <p:nvPr/>
        </p:nvGrpSpPr>
        <p:grpSpPr>
          <a:xfrm rot="0">
            <a:off x="1337033" y="1668541"/>
            <a:ext cx="4235341" cy="2002737"/>
            <a:chOff x="0" y="0"/>
            <a:chExt cx="999260" cy="472513"/>
          </a:xfrm>
        </p:grpSpPr>
        <p:sp>
          <p:nvSpPr>
            <p:cNvPr name="Freeform 5" id="5"/>
            <p:cNvSpPr/>
            <p:nvPr/>
          </p:nvSpPr>
          <p:spPr>
            <a:xfrm flipH="false" flipV="false" rot="0">
              <a:off x="0" y="0"/>
              <a:ext cx="999260" cy="472513"/>
            </a:xfrm>
            <a:custGeom>
              <a:avLst/>
              <a:gdLst/>
              <a:ahLst/>
              <a:cxnLst/>
              <a:rect r="r" b="b" t="t" l="l"/>
              <a:pathLst>
                <a:path h="472513" w="999260">
                  <a:moveTo>
                    <a:pt x="499630" y="0"/>
                  </a:moveTo>
                  <a:lnTo>
                    <a:pt x="999260" y="472513"/>
                  </a:lnTo>
                  <a:lnTo>
                    <a:pt x="0" y="472513"/>
                  </a:lnTo>
                  <a:lnTo>
                    <a:pt x="499630" y="0"/>
                  </a:lnTo>
                  <a:close/>
                </a:path>
              </a:pathLst>
            </a:custGeom>
            <a:solidFill>
              <a:srgbClr val="808080"/>
            </a:solidFill>
          </p:spPr>
        </p:sp>
        <p:sp>
          <p:nvSpPr>
            <p:cNvPr name="TextBox 6" id="6"/>
            <p:cNvSpPr txBox="true"/>
            <p:nvPr/>
          </p:nvSpPr>
          <p:spPr>
            <a:xfrm>
              <a:off x="156134" y="152706"/>
              <a:ext cx="686991" cy="286056"/>
            </a:xfrm>
            <a:prstGeom prst="rect">
              <a:avLst/>
            </a:prstGeom>
          </p:spPr>
          <p:txBody>
            <a:bodyPr anchor="ctr" rtlCol="false" tIns="50800" lIns="50800" bIns="50800" rIns="50800"/>
            <a:lstStyle/>
            <a:p>
              <a:pPr algn="ctr">
                <a:lnSpc>
                  <a:spcPts val="3220"/>
                </a:lnSpc>
              </a:pPr>
              <a:r>
                <a:rPr lang="en-US" sz="2300" b="true">
                  <a:solidFill>
                    <a:srgbClr val="FFFFFF"/>
                  </a:solidFill>
                  <a:latin typeface="Times New Roman Bold"/>
                  <a:ea typeface="Times New Roman Bold"/>
                  <a:cs typeface="Times New Roman Bold"/>
                  <a:sym typeface="Times New Roman Bold"/>
                </a:rPr>
                <a:t>Raw Dataset</a:t>
              </a:r>
            </a:p>
            <a:p>
              <a:pPr algn="ctr">
                <a:lnSpc>
                  <a:spcPts val="3220"/>
                </a:lnSpc>
              </a:pPr>
              <a:r>
                <a:rPr lang="en-US" b="true" sz="2300">
                  <a:solidFill>
                    <a:srgbClr val="FFFFFF"/>
                  </a:solidFill>
                  <a:latin typeface="Times New Roman Bold"/>
                  <a:ea typeface="Times New Roman Bold"/>
                  <a:cs typeface="Times New Roman Bold"/>
                  <a:sym typeface="Times New Roman Bold"/>
                </a:rPr>
                <a:t> (103,024 Records)</a:t>
              </a:r>
            </a:p>
          </p:txBody>
        </p:sp>
      </p:grpSp>
      <p:grpSp>
        <p:nvGrpSpPr>
          <p:cNvPr name="Group 7" id="7"/>
          <p:cNvGrpSpPr/>
          <p:nvPr/>
        </p:nvGrpSpPr>
        <p:grpSpPr>
          <a:xfrm rot="0">
            <a:off x="1028700" y="4187384"/>
            <a:ext cx="4852007" cy="830033"/>
            <a:chOff x="0" y="0"/>
            <a:chExt cx="1277895" cy="218610"/>
          </a:xfrm>
        </p:grpSpPr>
        <p:sp>
          <p:nvSpPr>
            <p:cNvPr name="Freeform 8" id="8"/>
            <p:cNvSpPr/>
            <p:nvPr/>
          </p:nvSpPr>
          <p:spPr>
            <a:xfrm flipH="false" flipV="false" rot="0">
              <a:off x="0" y="0"/>
              <a:ext cx="1277895" cy="218610"/>
            </a:xfrm>
            <a:custGeom>
              <a:avLst/>
              <a:gdLst/>
              <a:ahLst/>
              <a:cxnLst/>
              <a:rect r="r" b="b" t="t" l="l"/>
              <a:pathLst>
                <a:path h="218610" w="1277895">
                  <a:moveTo>
                    <a:pt x="0" y="0"/>
                  </a:moveTo>
                  <a:lnTo>
                    <a:pt x="1277895" y="0"/>
                  </a:lnTo>
                  <a:lnTo>
                    <a:pt x="1277895" y="218610"/>
                  </a:lnTo>
                  <a:lnTo>
                    <a:pt x="0" y="218610"/>
                  </a:lnTo>
                  <a:close/>
                </a:path>
              </a:pathLst>
            </a:custGeom>
            <a:solidFill>
              <a:srgbClr val="808080"/>
            </a:solidFill>
          </p:spPr>
        </p:sp>
        <p:sp>
          <p:nvSpPr>
            <p:cNvPr name="TextBox 9" id="9"/>
            <p:cNvSpPr txBox="true"/>
            <p:nvPr/>
          </p:nvSpPr>
          <p:spPr>
            <a:xfrm>
              <a:off x="0" y="-57150"/>
              <a:ext cx="1277895" cy="27576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Removed Duplicate Records</a:t>
              </a:r>
            </a:p>
          </p:txBody>
        </p:sp>
      </p:grpSp>
      <p:grpSp>
        <p:nvGrpSpPr>
          <p:cNvPr name="Group 10" id="10"/>
          <p:cNvGrpSpPr/>
          <p:nvPr/>
        </p:nvGrpSpPr>
        <p:grpSpPr>
          <a:xfrm rot="0">
            <a:off x="1028700" y="5952593"/>
            <a:ext cx="4852007" cy="955799"/>
            <a:chOff x="0" y="0"/>
            <a:chExt cx="1277895" cy="251733"/>
          </a:xfrm>
        </p:grpSpPr>
        <p:sp>
          <p:nvSpPr>
            <p:cNvPr name="Freeform 11" id="11"/>
            <p:cNvSpPr/>
            <p:nvPr/>
          </p:nvSpPr>
          <p:spPr>
            <a:xfrm flipH="false" flipV="false" rot="0">
              <a:off x="0" y="0"/>
              <a:ext cx="1277895" cy="251733"/>
            </a:xfrm>
            <a:custGeom>
              <a:avLst/>
              <a:gdLst/>
              <a:ahLst/>
              <a:cxnLst/>
              <a:rect r="r" b="b" t="t" l="l"/>
              <a:pathLst>
                <a:path h="251733" w="1277895">
                  <a:moveTo>
                    <a:pt x="0" y="0"/>
                  </a:moveTo>
                  <a:lnTo>
                    <a:pt x="1277895" y="0"/>
                  </a:lnTo>
                  <a:lnTo>
                    <a:pt x="1277895" y="251733"/>
                  </a:lnTo>
                  <a:lnTo>
                    <a:pt x="0" y="251733"/>
                  </a:lnTo>
                  <a:close/>
                </a:path>
              </a:pathLst>
            </a:custGeom>
            <a:solidFill>
              <a:srgbClr val="808080"/>
            </a:solidFill>
          </p:spPr>
        </p:sp>
        <p:sp>
          <p:nvSpPr>
            <p:cNvPr name="TextBox 12" id="12"/>
            <p:cNvSpPr txBox="true"/>
            <p:nvPr/>
          </p:nvSpPr>
          <p:spPr>
            <a:xfrm>
              <a:off x="0" y="-57150"/>
              <a:ext cx="1277895" cy="308883"/>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Handled Missing Values</a:t>
              </a:r>
            </a:p>
          </p:txBody>
        </p:sp>
      </p:grpSp>
      <p:grpSp>
        <p:nvGrpSpPr>
          <p:cNvPr name="Group 13" id="13"/>
          <p:cNvGrpSpPr/>
          <p:nvPr/>
        </p:nvGrpSpPr>
        <p:grpSpPr>
          <a:xfrm rot="0">
            <a:off x="1028700" y="7841843"/>
            <a:ext cx="4852007" cy="955799"/>
            <a:chOff x="0" y="0"/>
            <a:chExt cx="1277895" cy="251733"/>
          </a:xfrm>
        </p:grpSpPr>
        <p:sp>
          <p:nvSpPr>
            <p:cNvPr name="Freeform 14" id="14"/>
            <p:cNvSpPr/>
            <p:nvPr/>
          </p:nvSpPr>
          <p:spPr>
            <a:xfrm flipH="false" flipV="false" rot="0">
              <a:off x="0" y="0"/>
              <a:ext cx="1277895" cy="251733"/>
            </a:xfrm>
            <a:custGeom>
              <a:avLst/>
              <a:gdLst/>
              <a:ahLst/>
              <a:cxnLst/>
              <a:rect r="r" b="b" t="t" l="l"/>
              <a:pathLst>
                <a:path h="251733" w="1277895">
                  <a:moveTo>
                    <a:pt x="0" y="0"/>
                  </a:moveTo>
                  <a:lnTo>
                    <a:pt x="1277895" y="0"/>
                  </a:lnTo>
                  <a:lnTo>
                    <a:pt x="1277895" y="251733"/>
                  </a:lnTo>
                  <a:lnTo>
                    <a:pt x="0" y="251733"/>
                  </a:lnTo>
                  <a:close/>
                </a:path>
              </a:pathLst>
            </a:custGeom>
            <a:solidFill>
              <a:srgbClr val="808080"/>
            </a:solidFill>
          </p:spPr>
        </p:sp>
        <p:sp>
          <p:nvSpPr>
            <p:cNvPr name="TextBox 15" id="15"/>
            <p:cNvSpPr txBox="true"/>
            <p:nvPr/>
          </p:nvSpPr>
          <p:spPr>
            <a:xfrm>
              <a:off x="0" y="-57150"/>
              <a:ext cx="1277895" cy="308883"/>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Converted Date &amp; Time Formats</a:t>
              </a:r>
            </a:p>
          </p:txBody>
        </p:sp>
      </p:grpSp>
      <p:grpSp>
        <p:nvGrpSpPr>
          <p:cNvPr name="Group 16" id="16"/>
          <p:cNvGrpSpPr/>
          <p:nvPr/>
        </p:nvGrpSpPr>
        <p:grpSpPr>
          <a:xfrm rot="0">
            <a:off x="8578270" y="3410911"/>
            <a:ext cx="4852007" cy="955799"/>
            <a:chOff x="0" y="0"/>
            <a:chExt cx="1277895" cy="251733"/>
          </a:xfrm>
        </p:grpSpPr>
        <p:sp>
          <p:nvSpPr>
            <p:cNvPr name="Freeform 17" id="17"/>
            <p:cNvSpPr/>
            <p:nvPr/>
          </p:nvSpPr>
          <p:spPr>
            <a:xfrm flipH="false" flipV="false" rot="0">
              <a:off x="0" y="0"/>
              <a:ext cx="1277895" cy="251733"/>
            </a:xfrm>
            <a:custGeom>
              <a:avLst/>
              <a:gdLst/>
              <a:ahLst/>
              <a:cxnLst/>
              <a:rect r="r" b="b" t="t" l="l"/>
              <a:pathLst>
                <a:path h="251733" w="1277895">
                  <a:moveTo>
                    <a:pt x="0" y="0"/>
                  </a:moveTo>
                  <a:lnTo>
                    <a:pt x="1277895" y="0"/>
                  </a:lnTo>
                  <a:lnTo>
                    <a:pt x="1277895" y="251733"/>
                  </a:lnTo>
                  <a:lnTo>
                    <a:pt x="0" y="251733"/>
                  </a:lnTo>
                  <a:close/>
                </a:path>
              </a:pathLst>
            </a:custGeom>
            <a:solidFill>
              <a:srgbClr val="808080"/>
            </a:solidFill>
          </p:spPr>
        </p:sp>
        <p:sp>
          <p:nvSpPr>
            <p:cNvPr name="TextBox 18" id="18"/>
            <p:cNvSpPr txBox="true"/>
            <p:nvPr/>
          </p:nvSpPr>
          <p:spPr>
            <a:xfrm>
              <a:off x="0" y="-57150"/>
              <a:ext cx="1277895" cy="308883"/>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Standardized Categories</a:t>
              </a:r>
            </a:p>
          </p:txBody>
        </p:sp>
      </p:grpSp>
      <p:grpSp>
        <p:nvGrpSpPr>
          <p:cNvPr name="Group 19" id="19"/>
          <p:cNvGrpSpPr/>
          <p:nvPr/>
        </p:nvGrpSpPr>
        <p:grpSpPr>
          <a:xfrm rot="0">
            <a:off x="8578270" y="7363943"/>
            <a:ext cx="4852007" cy="955799"/>
            <a:chOff x="0" y="0"/>
            <a:chExt cx="1277895" cy="251733"/>
          </a:xfrm>
        </p:grpSpPr>
        <p:sp>
          <p:nvSpPr>
            <p:cNvPr name="Freeform 20" id="20"/>
            <p:cNvSpPr/>
            <p:nvPr/>
          </p:nvSpPr>
          <p:spPr>
            <a:xfrm flipH="false" flipV="false" rot="0">
              <a:off x="0" y="0"/>
              <a:ext cx="1277895" cy="251733"/>
            </a:xfrm>
            <a:custGeom>
              <a:avLst/>
              <a:gdLst/>
              <a:ahLst/>
              <a:cxnLst/>
              <a:rect r="r" b="b" t="t" l="l"/>
              <a:pathLst>
                <a:path h="251733" w="1277895">
                  <a:moveTo>
                    <a:pt x="0" y="0"/>
                  </a:moveTo>
                  <a:lnTo>
                    <a:pt x="1277895" y="0"/>
                  </a:lnTo>
                  <a:lnTo>
                    <a:pt x="1277895" y="251733"/>
                  </a:lnTo>
                  <a:lnTo>
                    <a:pt x="0" y="251733"/>
                  </a:lnTo>
                  <a:close/>
                </a:path>
              </a:pathLst>
            </a:custGeom>
            <a:solidFill>
              <a:srgbClr val="808080"/>
            </a:solidFill>
          </p:spPr>
        </p:sp>
        <p:sp>
          <p:nvSpPr>
            <p:cNvPr name="TextBox 21" id="21"/>
            <p:cNvSpPr txBox="true"/>
            <p:nvPr/>
          </p:nvSpPr>
          <p:spPr>
            <a:xfrm>
              <a:off x="0" y="-57150"/>
              <a:ext cx="1277895" cy="308883"/>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Created New Features</a:t>
              </a:r>
            </a:p>
          </p:txBody>
        </p:sp>
      </p:grpSp>
      <p:grpSp>
        <p:nvGrpSpPr>
          <p:cNvPr name="Group 22" id="22"/>
          <p:cNvGrpSpPr/>
          <p:nvPr/>
        </p:nvGrpSpPr>
        <p:grpSpPr>
          <a:xfrm rot="0">
            <a:off x="14468366" y="2137708"/>
            <a:ext cx="2550994" cy="1273203"/>
            <a:chOff x="0" y="0"/>
            <a:chExt cx="1628529" cy="812800"/>
          </a:xfrm>
        </p:grpSpPr>
        <p:sp>
          <p:nvSpPr>
            <p:cNvPr name="Freeform 23" id="23"/>
            <p:cNvSpPr/>
            <p:nvPr/>
          </p:nvSpPr>
          <p:spPr>
            <a:xfrm flipH="false" flipV="false" rot="0">
              <a:off x="0" y="0"/>
              <a:ext cx="1628529" cy="812800"/>
            </a:xfrm>
            <a:custGeom>
              <a:avLst/>
              <a:gdLst/>
              <a:ahLst/>
              <a:cxnLst/>
              <a:rect r="r" b="b" t="t" l="l"/>
              <a:pathLst>
                <a:path h="812800" w="1628529">
                  <a:moveTo>
                    <a:pt x="814264" y="0"/>
                  </a:moveTo>
                  <a:cubicBezTo>
                    <a:pt x="364559" y="0"/>
                    <a:pt x="0" y="181951"/>
                    <a:pt x="0" y="406400"/>
                  </a:cubicBezTo>
                  <a:cubicBezTo>
                    <a:pt x="0" y="630849"/>
                    <a:pt x="364559" y="812800"/>
                    <a:pt x="814264" y="812800"/>
                  </a:cubicBezTo>
                  <a:cubicBezTo>
                    <a:pt x="1263970" y="812800"/>
                    <a:pt x="1628529" y="630849"/>
                    <a:pt x="1628529" y="406400"/>
                  </a:cubicBezTo>
                  <a:cubicBezTo>
                    <a:pt x="1628529" y="181951"/>
                    <a:pt x="1263970" y="0"/>
                    <a:pt x="814264" y="0"/>
                  </a:cubicBezTo>
                  <a:close/>
                </a:path>
              </a:pathLst>
            </a:custGeom>
            <a:solidFill>
              <a:srgbClr val="808080"/>
            </a:solidFill>
          </p:spPr>
        </p:sp>
        <p:sp>
          <p:nvSpPr>
            <p:cNvPr name="TextBox 24" id="24"/>
            <p:cNvSpPr txBox="true"/>
            <p:nvPr/>
          </p:nvSpPr>
          <p:spPr>
            <a:xfrm>
              <a:off x="152675" y="19050"/>
              <a:ext cx="1323180" cy="71755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Booking Status</a:t>
              </a:r>
            </a:p>
          </p:txBody>
        </p:sp>
      </p:grpSp>
      <p:grpSp>
        <p:nvGrpSpPr>
          <p:cNvPr name="Group 25" id="25"/>
          <p:cNvGrpSpPr/>
          <p:nvPr/>
        </p:nvGrpSpPr>
        <p:grpSpPr>
          <a:xfrm rot="0">
            <a:off x="14468366" y="4187384"/>
            <a:ext cx="2550994" cy="1273203"/>
            <a:chOff x="0" y="0"/>
            <a:chExt cx="1628529" cy="812800"/>
          </a:xfrm>
        </p:grpSpPr>
        <p:sp>
          <p:nvSpPr>
            <p:cNvPr name="Freeform 26" id="26"/>
            <p:cNvSpPr/>
            <p:nvPr/>
          </p:nvSpPr>
          <p:spPr>
            <a:xfrm flipH="false" flipV="false" rot="0">
              <a:off x="0" y="0"/>
              <a:ext cx="1628529" cy="812800"/>
            </a:xfrm>
            <a:custGeom>
              <a:avLst/>
              <a:gdLst/>
              <a:ahLst/>
              <a:cxnLst/>
              <a:rect r="r" b="b" t="t" l="l"/>
              <a:pathLst>
                <a:path h="812800" w="1628529">
                  <a:moveTo>
                    <a:pt x="814264" y="0"/>
                  </a:moveTo>
                  <a:cubicBezTo>
                    <a:pt x="364559" y="0"/>
                    <a:pt x="0" y="181951"/>
                    <a:pt x="0" y="406400"/>
                  </a:cubicBezTo>
                  <a:cubicBezTo>
                    <a:pt x="0" y="630849"/>
                    <a:pt x="364559" y="812800"/>
                    <a:pt x="814264" y="812800"/>
                  </a:cubicBezTo>
                  <a:cubicBezTo>
                    <a:pt x="1263970" y="812800"/>
                    <a:pt x="1628529" y="630849"/>
                    <a:pt x="1628529" y="406400"/>
                  </a:cubicBezTo>
                  <a:cubicBezTo>
                    <a:pt x="1628529" y="181951"/>
                    <a:pt x="1263970" y="0"/>
                    <a:pt x="814264" y="0"/>
                  </a:cubicBezTo>
                  <a:close/>
                </a:path>
              </a:pathLst>
            </a:custGeom>
            <a:solidFill>
              <a:srgbClr val="808080"/>
            </a:solidFill>
          </p:spPr>
        </p:sp>
        <p:sp>
          <p:nvSpPr>
            <p:cNvPr name="TextBox 27" id="27"/>
            <p:cNvSpPr txBox="true"/>
            <p:nvPr/>
          </p:nvSpPr>
          <p:spPr>
            <a:xfrm>
              <a:off x="152675" y="19050"/>
              <a:ext cx="1323180" cy="71755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Vehicle Type</a:t>
              </a:r>
            </a:p>
          </p:txBody>
        </p:sp>
      </p:grpSp>
      <p:grpSp>
        <p:nvGrpSpPr>
          <p:cNvPr name="Group 28" id="28"/>
          <p:cNvGrpSpPr/>
          <p:nvPr/>
        </p:nvGrpSpPr>
        <p:grpSpPr>
          <a:xfrm rot="0">
            <a:off x="14468366" y="5793892"/>
            <a:ext cx="2550994" cy="1273203"/>
            <a:chOff x="0" y="0"/>
            <a:chExt cx="1628529" cy="812800"/>
          </a:xfrm>
        </p:grpSpPr>
        <p:sp>
          <p:nvSpPr>
            <p:cNvPr name="Freeform 29" id="29"/>
            <p:cNvSpPr/>
            <p:nvPr/>
          </p:nvSpPr>
          <p:spPr>
            <a:xfrm flipH="false" flipV="false" rot="0">
              <a:off x="0" y="0"/>
              <a:ext cx="1628529" cy="812800"/>
            </a:xfrm>
            <a:custGeom>
              <a:avLst/>
              <a:gdLst/>
              <a:ahLst/>
              <a:cxnLst/>
              <a:rect r="r" b="b" t="t" l="l"/>
              <a:pathLst>
                <a:path h="812800" w="1628529">
                  <a:moveTo>
                    <a:pt x="814264" y="0"/>
                  </a:moveTo>
                  <a:cubicBezTo>
                    <a:pt x="364559" y="0"/>
                    <a:pt x="0" y="181951"/>
                    <a:pt x="0" y="406400"/>
                  </a:cubicBezTo>
                  <a:cubicBezTo>
                    <a:pt x="0" y="630849"/>
                    <a:pt x="364559" y="812800"/>
                    <a:pt x="814264" y="812800"/>
                  </a:cubicBezTo>
                  <a:cubicBezTo>
                    <a:pt x="1263970" y="812800"/>
                    <a:pt x="1628529" y="630849"/>
                    <a:pt x="1628529" y="406400"/>
                  </a:cubicBezTo>
                  <a:cubicBezTo>
                    <a:pt x="1628529" y="181951"/>
                    <a:pt x="1263970" y="0"/>
                    <a:pt x="814264" y="0"/>
                  </a:cubicBezTo>
                  <a:close/>
                </a:path>
              </a:pathLst>
            </a:custGeom>
            <a:solidFill>
              <a:srgbClr val="808080"/>
            </a:solidFill>
          </p:spPr>
        </p:sp>
        <p:sp>
          <p:nvSpPr>
            <p:cNvPr name="TextBox 30" id="30"/>
            <p:cNvSpPr txBox="true"/>
            <p:nvPr/>
          </p:nvSpPr>
          <p:spPr>
            <a:xfrm>
              <a:off x="152675" y="19050"/>
              <a:ext cx="1323180" cy="71755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Month</a:t>
              </a:r>
            </a:p>
          </p:txBody>
        </p:sp>
      </p:grpSp>
      <p:grpSp>
        <p:nvGrpSpPr>
          <p:cNvPr name="Group 31" id="31"/>
          <p:cNvGrpSpPr/>
          <p:nvPr/>
        </p:nvGrpSpPr>
        <p:grpSpPr>
          <a:xfrm rot="0">
            <a:off x="14468366" y="7205241"/>
            <a:ext cx="2550994" cy="1273203"/>
            <a:chOff x="0" y="0"/>
            <a:chExt cx="1628529" cy="812800"/>
          </a:xfrm>
        </p:grpSpPr>
        <p:sp>
          <p:nvSpPr>
            <p:cNvPr name="Freeform 32" id="32"/>
            <p:cNvSpPr/>
            <p:nvPr/>
          </p:nvSpPr>
          <p:spPr>
            <a:xfrm flipH="false" flipV="false" rot="0">
              <a:off x="0" y="0"/>
              <a:ext cx="1628529" cy="812800"/>
            </a:xfrm>
            <a:custGeom>
              <a:avLst/>
              <a:gdLst/>
              <a:ahLst/>
              <a:cxnLst/>
              <a:rect r="r" b="b" t="t" l="l"/>
              <a:pathLst>
                <a:path h="812800" w="1628529">
                  <a:moveTo>
                    <a:pt x="814264" y="0"/>
                  </a:moveTo>
                  <a:cubicBezTo>
                    <a:pt x="364559" y="0"/>
                    <a:pt x="0" y="181951"/>
                    <a:pt x="0" y="406400"/>
                  </a:cubicBezTo>
                  <a:cubicBezTo>
                    <a:pt x="0" y="630849"/>
                    <a:pt x="364559" y="812800"/>
                    <a:pt x="814264" y="812800"/>
                  </a:cubicBezTo>
                  <a:cubicBezTo>
                    <a:pt x="1263970" y="812800"/>
                    <a:pt x="1628529" y="630849"/>
                    <a:pt x="1628529" y="406400"/>
                  </a:cubicBezTo>
                  <a:cubicBezTo>
                    <a:pt x="1628529" y="181951"/>
                    <a:pt x="1263970" y="0"/>
                    <a:pt x="814264" y="0"/>
                  </a:cubicBezTo>
                  <a:close/>
                </a:path>
              </a:pathLst>
            </a:custGeom>
            <a:solidFill>
              <a:srgbClr val="808080"/>
            </a:solidFill>
          </p:spPr>
        </p:sp>
        <p:sp>
          <p:nvSpPr>
            <p:cNvPr name="TextBox 33" id="33"/>
            <p:cNvSpPr txBox="true"/>
            <p:nvPr/>
          </p:nvSpPr>
          <p:spPr>
            <a:xfrm>
              <a:off x="152675" y="19050"/>
              <a:ext cx="1323180" cy="71755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Date</a:t>
              </a:r>
            </a:p>
          </p:txBody>
        </p:sp>
      </p:grpSp>
      <p:grpSp>
        <p:nvGrpSpPr>
          <p:cNvPr name="Group 34" id="34"/>
          <p:cNvGrpSpPr/>
          <p:nvPr/>
        </p:nvGrpSpPr>
        <p:grpSpPr>
          <a:xfrm rot="0">
            <a:off x="14468366" y="8622893"/>
            <a:ext cx="2550994" cy="1273203"/>
            <a:chOff x="0" y="0"/>
            <a:chExt cx="1628529" cy="812800"/>
          </a:xfrm>
        </p:grpSpPr>
        <p:sp>
          <p:nvSpPr>
            <p:cNvPr name="Freeform 35" id="35"/>
            <p:cNvSpPr/>
            <p:nvPr/>
          </p:nvSpPr>
          <p:spPr>
            <a:xfrm flipH="false" flipV="false" rot="0">
              <a:off x="0" y="0"/>
              <a:ext cx="1628529" cy="812800"/>
            </a:xfrm>
            <a:custGeom>
              <a:avLst/>
              <a:gdLst/>
              <a:ahLst/>
              <a:cxnLst/>
              <a:rect r="r" b="b" t="t" l="l"/>
              <a:pathLst>
                <a:path h="812800" w="1628529">
                  <a:moveTo>
                    <a:pt x="814264" y="0"/>
                  </a:moveTo>
                  <a:cubicBezTo>
                    <a:pt x="364559" y="0"/>
                    <a:pt x="0" y="181951"/>
                    <a:pt x="0" y="406400"/>
                  </a:cubicBezTo>
                  <a:cubicBezTo>
                    <a:pt x="0" y="630849"/>
                    <a:pt x="364559" y="812800"/>
                    <a:pt x="814264" y="812800"/>
                  </a:cubicBezTo>
                  <a:cubicBezTo>
                    <a:pt x="1263970" y="812800"/>
                    <a:pt x="1628529" y="630849"/>
                    <a:pt x="1628529" y="406400"/>
                  </a:cubicBezTo>
                  <a:cubicBezTo>
                    <a:pt x="1628529" y="181951"/>
                    <a:pt x="1263970" y="0"/>
                    <a:pt x="814264" y="0"/>
                  </a:cubicBezTo>
                  <a:close/>
                </a:path>
              </a:pathLst>
            </a:custGeom>
            <a:solidFill>
              <a:srgbClr val="808080"/>
            </a:solidFill>
          </p:spPr>
        </p:sp>
        <p:sp>
          <p:nvSpPr>
            <p:cNvPr name="TextBox 36" id="36"/>
            <p:cNvSpPr txBox="true"/>
            <p:nvPr/>
          </p:nvSpPr>
          <p:spPr>
            <a:xfrm>
              <a:off x="152675" y="19050"/>
              <a:ext cx="1323180" cy="717550"/>
            </a:xfrm>
            <a:prstGeom prst="rect">
              <a:avLst/>
            </a:prstGeom>
          </p:spPr>
          <p:txBody>
            <a:bodyPr anchor="ctr" rtlCol="false" tIns="50800" lIns="50800" bIns="50800" rIns="50800"/>
            <a:lstStyle/>
            <a:p>
              <a:pPr algn="ctr">
                <a:lnSpc>
                  <a:spcPts val="3359"/>
                </a:lnSpc>
              </a:pPr>
              <a:r>
                <a:rPr lang="en-US" sz="2400">
                  <a:solidFill>
                    <a:srgbClr val="FFFFFF"/>
                  </a:solidFill>
                  <a:latin typeface="Times New Roman"/>
                  <a:ea typeface="Times New Roman"/>
                  <a:cs typeface="Times New Roman"/>
                  <a:sym typeface="Times New Roman"/>
                </a:rPr>
                <a:t>Hour</a:t>
              </a:r>
            </a:p>
          </p:txBody>
        </p:sp>
      </p:grpSp>
      <p:sp>
        <p:nvSpPr>
          <p:cNvPr name="AutoShape 37" id="37"/>
          <p:cNvSpPr/>
          <p:nvPr/>
        </p:nvSpPr>
        <p:spPr>
          <a:xfrm>
            <a:off x="3454704" y="3671278"/>
            <a:ext cx="0" cy="516107"/>
          </a:xfrm>
          <a:prstGeom prst="line">
            <a:avLst/>
          </a:prstGeom>
          <a:ln cap="flat" w="38100">
            <a:solidFill>
              <a:srgbClr val="FFFFFF"/>
            </a:solidFill>
            <a:prstDash val="solid"/>
            <a:headEnd type="none" len="sm" w="sm"/>
            <a:tailEnd type="none" len="sm" w="sm"/>
          </a:ln>
        </p:spPr>
      </p:sp>
      <p:sp>
        <p:nvSpPr>
          <p:cNvPr name="AutoShape 38" id="38"/>
          <p:cNvSpPr/>
          <p:nvPr/>
        </p:nvSpPr>
        <p:spPr>
          <a:xfrm flipH="true">
            <a:off x="3454704" y="5017418"/>
            <a:ext cx="0" cy="935176"/>
          </a:xfrm>
          <a:prstGeom prst="line">
            <a:avLst/>
          </a:prstGeom>
          <a:ln cap="flat" w="38100">
            <a:solidFill>
              <a:srgbClr val="FFFFFF"/>
            </a:solidFill>
            <a:prstDash val="solid"/>
            <a:headEnd type="none" len="sm" w="sm"/>
            <a:tailEnd type="none" len="sm" w="sm"/>
          </a:ln>
        </p:spPr>
      </p:sp>
      <p:sp>
        <p:nvSpPr>
          <p:cNvPr name="AutoShape 39" id="39"/>
          <p:cNvSpPr/>
          <p:nvPr/>
        </p:nvSpPr>
        <p:spPr>
          <a:xfrm>
            <a:off x="3454704" y="6908393"/>
            <a:ext cx="0" cy="933450"/>
          </a:xfrm>
          <a:prstGeom prst="line">
            <a:avLst/>
          </a:prstGeom>
          <a:ln cap="flat" w="38100">
            <a:solidFill>
              <a:srgbClr val="FFFFFF"/>
            </a:solidFill>
            <a:prstDash val="solid"/>
            <a:headEnd type="none" len="sm" w="sm"/>
            <a:tailEnd type="none" len="sm" w="sm"/>
          </a:ln>
        </p:spPr>
      </p:sp>
      <p:sp>
        <p:nvSpPr>
          <p:cNvPr name="Freeform 40" id="40"/>
          <p:cNvSpPr/>
          <p:nvPr/>
        </p:nvSpPr>
        <p:spPr>
          <a:xfrm>
            <a:off x="5880707" y="3888811"/>
            <a:ext cx="2697563" cy="4430932"/>
          </a:xfrm>
          <a:custGeom>
            <a:avLst/>
            <a:gdLst/>
            <a:ahLst/>
            <a:cxnLst/>
            <a:rect r="r" b="b" t="t" l="l"/>
            <a:pathLst>
              <a:path h="4430932" w="2697563">
                <a:moveTo>
                  <a:pt x="0" y="4430932"/>
                </a:moveTo>
                <a:lnTo>
                  <a:pt x="0" y="2444066"/>
                </a:lnTo>
                <a:cubicBezTo>
                  <a:pt x="0" y="2383437"/>
                  <a:pt x="24085" y="2325292"/>
                  <a:pt x="66955" y="2282421"/>
                </a:cubicBezTo>
                <a:cubicBezTo>
                  <a:pt x="109826" y="2239550"/>
                  <a:pt x="167971" y="2215466"/>
                  <a:pt x="228600" y="2215466"/>
                </a:cubicBezTo>
                <a:lnTo>
                  <a:pt x="2468963" y="2215466"/>
                </a:lnTo>
                <a:cubicBezTo>
                  <a:pt x="2595215" y="2215466"/>
                  <a:pt x="2697563" y="2113118"/>
                  <a:pt x="2697563" y="1986866"/>
                </a:cubicBezTo>
                <a:lnTo>
                  <a:pt x="2697563" y="0"/>
                </a:lnTo>
              </a:path>
            </a:pathLst>
          </a:custGeom>
          <a:ln cap="flat" w="38100">
            <a:solidFill>
              <a:srgbClr val="FFFFFF"/>
            </a:solidFill>
            <a:prstDash val="solid"/>
            <a:headEnd type="none" len="sm" w="sm"/>
            <a:tailEnd type="none" len="sm" w="sm"/>
          </a:ln>
        </p:spPr>
      </p:sp>
      <p:sp>
        <p:nvSpPr>
          <p:cNvPr name="AutoShape 41" id="41"/>
          <p:cNvSpPr/>
          <p:nvPr/>
        </p:nvSpPr>
        <p:spPr>
          <a:xfrm>
            <a:off x="11004273" y="4366710"/>
            <a:ext cx="0" cy="2997233"/>
          </a:xfrm>
          <a:prstGeom prst="line">
            <a:avLst/>
          </a:prstGeom>
          <a:ln cap="flat" w="38100">
            <a:solidFill>
              <a:srgbClr val="FFFFFF"/>
            </a:solidFill>
            <a:prstDash val="solid"/>
            <a:headEnd type="none" len="sm" w="sm"/>
            <a:tailEnd type="none" len="sm" w="sm"/>
          </a:ln>
        </p:spPr>
      </p:sp>
      <p:sp>
        <p:nvSpPr>
          <p:cNvPr name="Freeform 42" id="42"/>
          <p:cNvSpPr/>
          <p:nvPr/>
        </p:nvSpPr>
        <p:spPr>
          <a:xfrm>
            <a:off x="13430276" y="2774309"/>
            <a:ext cx="1038090" cy="1114502"/>
          </a:xfrm>
          <a:custGeom>
            <a:avLst/>
            <a:gdLst/>
            <a:ahLst/>
            <a:cxnLst/>
            <a:rect r="r" b="b" t="t" l="l"/>
            <a:pathLst>
              <a:path h="1114502" w="1038090">
                <a:moveTo>
                  <a:pt x="0" y="1114502"/>
                </a:moveTo>
                <a:lnTo>
                  <a:pt x="0" y="785851"/>
                </a:lnTo>
                <a:cubicBezTo>
                  <a:pt x="0" y="725222"/>
                  <a:pt x="24086" y="667077"/>
                  <a:pt x="66956" y="624206"/>
                </a:cubicBezTo>
                <a:cubicBezTo>
                  <a:pt x="109826" y="581335"/>
                  <a:pt x="167971" y="557251"/>
                  <a:pt x="228600" y="557251"/>
                </a:cubicBezTo>
                <a:lnTo>
                  <a:pt x="809490" y="557251"/>
                </a:lnTo>
                <a:cubicBezTo>
                  <a:pt x="935743" y="557251"/>
                  <a:pt x="1038090" y="454903"/>
                  <a:pt x="1038090" y="328651"/>
                </a:cubicBezTo>
                <a:lnTo>
                  <a:pt x="1038090" y="0"/>
                </a:lnTo>
              </a:path>
            </a:pathLst>
          </a:custGeom>
          <a:ln cap="flat" w="38100">
            <a:solidFill>
              <a:srgbClr val="FFFFFF"/>
            </a:solidFill>
            <a:prstDash val="solid"/>
            <a:headEnd type="none" len="sm" w="sm"/>
            <a:tailEnd type="none" len="sm" w="sm"/>
          </a:ln>
        </p:spPr>
      </p:sp>
      <p:sp>
        <p:nvSpPr>
          <p:cNvPr name="Freeform 43" id="43"/>
          <p:cNvSpPr/>
          <p:nvPr/>
        </p:nvSpPr>
        <p:spPr>
          <a:xfrm>
            <a:off x="13430276" y="3888811"/>
            <a:ext cx="1038090" cy="935175"/>
          </a:xfrm>
          <a:custGeom>
            <a:avLst/>
            <a:gdLst/>
            <a:ahLst/>
            <a:cxnLst/>
            <a:rect r="r" b="b" t="t" l="l"/>
            <a:pathLst>
              <a:path h="935175" w="1038090">
                <a:moveTo>
                  <a:pt x="0" y="0"/>
                </a:moveTo>
                <a:lnTo>
                  <a:pt x="290446" y="0"/>
                </a:lnTo>
                <a:cubicBezTo>
                  <a:pt x="351075" y="0"/>
                  <a:pt x="409220" y="24084"/>
                  <a:pt x="452091" y="66955"/>
                </a:cubicBezTo>
                <a:cubicBezTo>
                  <a:pt x="494962" y="109826"/>
                  <a:pt x="519046" y="167971"/>
                  <a:pt x="519046" y="228600"/>
                </a:cubicBezTo>
                <a:lnTo>
                  <a:pt x="519046" y="706575"/>
                </a:lnTo>
                <a:cubicBezTo>
                  <a:pt x="519046" y="832828"/>
                  <a:pt x="621393" y="935175"/>
                  <a:pt x="747646" y="935175"/>
                </a:cubicBezTo>
                <a:lnTo>
                  <a:pt x="1038090" y="935175"/>
                </a:lnTo>
              </a:path>
            </a:pathLst>
          </a:custGeom>
          <a:ln cap="flat" w="38100">
            <a:solidFill>
              <a:srgbClr val="FFFFFF"/>
            </a:solidFill>
            <a:prstDash val="solid"/>
            <a:headEnd type="none" len="sm" w="sm"/>
            <a:tailEnd type="none" len="sm" w="sm"/>
          </a:ln>
        </p:spPr>
      </p:sp>
      <p:sp>
        <p:nvSpPr>
          <p:cNvPr name="Freeform 44" id="44"/>
          <p:cNvSpPr/>
          <p:nvPr/>
        </p:nvSpPr>
        <p:spPr>
          <a:xfrm>
            <a:off x="13430276" y="7841843"/>
            <a:ext cx="1038090" cy="1417651"/>
          </a:xfrm>
          <a:custGeom>
            <a:avLst/>
            <a:gdLst/>
            <a:ahLst/>
            <a:cxnLst/>
            <a:rect r="r" b="b" t="t" l="l"/>
            <a:pathLst>
              <a:path h="1417651" w="1038090">
                <a:moveTo>
                  <a:pt x="0" y="0"/>
                </a:moveTo>
                <a:lnTo>
                  <a:pt x="0" y="480226"/>
                </a:lnTo>
                <a:cubicBezTo>
                  <a:pt x="0" y="540855"/>
                  <a:pt x="24086" y="599000"/>
                  <a:pt x="66956" y="641870"/>
                </a:cubicBezTo>
                <a:cubicBezTo>
                  <a:pt x="109826" y="684741"/>
                  <a:pt x="167971" y="708826"/>
                  <a:pt x="228600" y="708826"/>
                </a:cubicBezTo>
                <a:lnTo>
                  <a:pt x="809490" y="708826"/>
                </a:lnTo>
                <a:cubicBezTo>
                  <a:pt x="870119" y="708826"/>
                  <a:pt x="928265" y="732910"/>
                  <a:pt x="971135" y="775781"/>
                </a:cubicBezTo>
                <a:cubicBezTo>
                  <a:pt x="1014007" y="818652"/>
                  <a:pt x="1038090" y="876797"/>
                  <a:pt x="1038090" y="937426"/>
                </a:cubicBezTo>
                <a:lnTo>
                  <a:pt x="1038090" y="1417652"/>
                </a:lnTo>
              </a:path>
            </a:pathLst>
          </a:custGeom>
          <a:ln cap="flat" w="38100">
            <a:solidFill>
              <a:srgbClr val="FFFFFF"/>
            </a:solidFill>
            <a:prstDash val="solid"/>
            <a:headEnd type="none" len="sm" w="sm"/>
            <a:tailEnd type="none" len="sm" w="sm"/>
          </a:ln>
        </p:spPr>
      </p:sp>
      <p:sp>
        <p:nvSpPr>
          <p:cNvPr name="Freeform 45" id="45"/>
          <p:cNvSpPr/>
          <p:nvPr/>
        </p:nvSpPr>
        <p:spPr>
          <a:xfrm>
            <a:off x="13949322" y="7841843"/>
            <a:ext cx="519044" cy="0"/>
          </a:xfrm>
          <a:custGeom>
            <a:avLst/>
            <a:gdLst/>
            <a:ahLst/>
            <a:cxnLst/>
            <a:rect r="r" b="b" t="t" l="l"/>
            <a:pathLst>
              <a:path h="0" w="519044">
                <a:moveTo>
                  <a:pt x="0" y="0"/>
                </a:moveTo>
                <a:lnTo>
                  <a:pt x="519044" y="0"/>
                </a:lnTo>
              </a:path>
            </a:pathLst>
          </a:custGeom>
          <a:ln cap="flat" w="38100">
            <a:solidFill>
              <a:srgbClr val="FFFFFF"/>
            </a:solidFill>
            <a:prstDash val="solid"/>
            <a:headEnd type="none" len="sm" w="sm"/>
            <a:tailEnd type="none" len="sm" w="sm"/>
          </a:ln>
        </p:spPr>
      </p:sp>
      <p:sp>
        <p:nvSpPr>
          <p:cNvPr name="Freeform 46" id="46"/>
          <p:cNvSpPr/>
          <p:nvPr/>
        </p:nvSpPr>
        <p:spPr>
          <a:xfrm>
            <a:off x="13430276" y="6430493"/>
            <a:ext cx="1038090" cy="1411350"/>
          </a:xfrm>
          <a:custGeom>
            <a:avLst/>
            <a:gdLst/>
            <a:ahLst/>
            <a:cxnLst/>
            <a:rect r="r" b="b" t="t" l="l"/>
            <a:pathLst>
              <a:path h="1411350" w="1038090">
                <a:moveTo>
                  <a:pt x="0" y="1411350"/>
                </a:moveTo>
                <a:lnTo>
                  <a:pt x="0" y="934275"/>
                </a:lnTo>
                <a:cubicBezTo>
                  <a:pt x="0" y="873646"/>
                  <a:pt x="24086" y="815501"/>
                  <a:pt x="66956" y="772631"/>
                </a:cubicBezTo>
                <a:cubicBezTo>
                  <a:pt x="109826" y="729760"/>
                  <a:pt x="167971" y="705675"/>
                  <a:pt x="228600" y="705675"/>
                </a:cubicBezTo>
                <a:lnTo>
                  <a:pt x="809490" y="705675"/>
                </a:lnTo>
                <a:cubicBezTo>
                  <a:pt x="935743" y="705675"/>
                  <a:pt x="1038090" y="603327"/>
                  <a:pt x="1038090" y="477075"/>
                </a:cubicBezTo>
                <a:lnTo>
                  <a:pt x="1038090" y="0"/>
                </a:lnTo>
              </a:path>
            </a:pathLst>
          </a:custGeom>
          <a:ln cap="flat" w="38100">
            <a:solidFill>
              <a:srgbClr val="FFFFFF"/>
            </a:solidFill>
            <a:prstDash val="solid"/>
            <a:headEnd type="none" len="sm" w="sm"/>
            <a:tailEnd type="none" len="sm" w="sm"/>
          </a:ln>
        </p:spPr>
      </p:sp>
      <p:grpSp>
        <p:nvGrpSpPr>
          <p:cNvPr name="Group 47" id="47"/>
          <p:cNvGrpSpPr/>
          <p:nvPr/>
        </p:nvGrpSpPr>
        <p:grpSpPr>
          <a:xfrm rot="0">
            <a:off x="8892564" y="8929623"/>
            <a:ext cx="4223419" cy="1357377"/>
            <a:chOff x="0" y="0"/>
            <a:chExt cx="3069477" cy="986508"/>
          </a:xfrm>
        </p:grpSpPr>
        <p:sp>
          <p:nvSpPr>
            <p:cNvPr name="Freeform 48" id="48"/>
            <p:cNvSpPr/>
            <p:nvPr/>
          </p:nvSpPr>
          <p:spPr>
            <a:xfrm flipH="false" flipV="false" rot="0">
              <a:off x="0" y="0"/>
              <a:ext cx="3069477" cy="986508"/>
            </a:xfrm>
            <a:custGeom>
              <a:avLst/>
              <a:gdLst/>
              <a:ahLst/>
              <a:cxnLst/>
              <a:rect r="r" b="b" t="t" l="l"/>
              <a:pathLst>
                <a:path h="986508" w="3069477">
                  <a:moveTo>
                    <a:pt x="1534738" y="986508"/>
                  </a:moveTo>
                  <a:lnTo>
                    <a:pt x="3069477" y="0"/>
                  </a:lnTo>
                  <a:lnTo>
                    <a:pt x="0" y="0"/>
                  </a:lnTo>
                  <a:lnTo>
                    <a:pt x="1534738" y="986508"/>
                  </a:lnTo>
                  <a:close/>
                </a:path>
              </a:pathLst>
            </a:custGeom>
            <a:solidFill>
              <a:srgbClr val="808080"/>
            </a:solidFill>
          </p:spPr>
        </p:sp>
        <p:sp>
          <p:nvSpPr>
            <p:cNvPr name="TextBox 49" id="49"/>
            <p:cNvSpPr txBox="true"/>
            <p:nvPr/>
          </p:nvSpPr>
          <p:spPr>
            <a:xfrm>
              <a:off x="479606" y="13315"/>
              <a:ext cx="2110265" cy="515172"/>
            </a:xfrm>
            <a:prstGeom prst="rect">
              <a:avLst/>
            </a:prstGeom>
          </p:spPr>
          <p:txBody>
            <a:bodyPr anchor="ctr" rtlCol="false" tIns="50800" lIns="50800" bIns="50800" rIns="50800"/>
            <a:lstStyle/>
            <a:p>
              <a:pPr algn="ctr">
                <a:lnSpc>
                  <a:spcPts val="3359"/>
                </a:lnSpc>
              </a:pPr>
              <a:r>
                <a:rPr lang="en-US" b="true" sz="2400">
                  <a:solidFill>
                    <a:srgbClr val="FFFFFF"/>
                  </a:solidFill>
                  <a:latin typeface="Times New Roman Bold"/>
                  <a:ea typeface="Times New Roman Bold"/>
                  <a:cs typeface="Times New Roman Bold"/>
                  <a:sym typeface="Times New Roman Bold"/>
                </a:rPr>
                <a:t>Dataset Ready</a:t>
              </a:r>
            </a:p>
          </p:txBody>
        </p:sp>
      </p:grpSp>
      <p:sp>
        <p:nvSpPr>
          <p:cNvPr name="AutoShape 50" id="50"/>
          <p:cNvSpPr/>
          <p:nvPr/>
        </p:nvSpPr>
        <p:spPr>
          <a:xfrm>
            <a:off x="11004273" y="8319743"/>
            <a:ext cx="0" cy="609880"/>
          </a:xfrm>
          <a:prstGeom prst="line">
            <a:avLst/>
          </a:prstGeom>
          <a:ln cap="flat" w="38100">
            <a:solidFill>
              <a:srgbClr val="FFFFFF"/>
            </a:solidFill>
            <a:prstDash val="solid"/>
            <a:headEnd type="none" len="sm" w="sm"/>
            <a:tailEnd type="none" len="sm" w="sm"/>
          </a:ln>
        </p:spPr>
      </p:sp>
      <p:sp>
        <p:nvSpPr>
          <p:cNvPr name="Freeform 51" id="51"/>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844239" y="32220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TextBox 4" id="4"/>
          <p:cNvSpPr txBox="true"/>
          <p:nvPr/>
        </p:nvSpPr>
        <p:spPr>
          <a:xfrm rot="0">
            <a:off x="3205857" y="1081492"/>
            <a:ext cx="11876287" cy="1240810"/>
          </a:xfrm>
          <a:prstGeom prst="rect">
            <a:avLst/>
          </a:prstGeom>
        </p:spPr>
        <p:txBody>
          <a:bodyPr anchor="t" rtlCol="false" tIns="0" lIns="0" bIns="0" rIns="0">
            <a:spAutoFit/>
          </a:bodyPr>
          <a:lstStyle/>
          <a:p>
            <a:pPr algn="l">
              <a:lnSpc>
                <a:spcPts val="9833"/>
              </a:lnSpc>
            </a:pPr>
            <a:r>
              <a:rPr lang="en-US" sz="7024" b="true">
                <a:solidFill>
                  <a:srgbClr val="FFFFFF"/>
                </a:solidFill>
                <a:latin typeface="Times New Roman Bold"/>
                <a:ea typeface="Times New Roman Bold"/>
                <a:cs typeface="Times New Roman Bold"/>
                <a:sym typeface="Times New Roman Bold"/>
              </a:rPr>
              <a:t>Streamlit</a:t>
            </a:r>
            <a:r>
              <a:rPr lang="en-US" sz="7024" b="true">
                <a:solidFill>
                  <a:srgbClr val="FFFFFF"/>
                </a:solidFill>
                <a:latin typeface="Times New Roman Bold"/>
                <a:ea typeface="Times New Roman Bold"/>
                <a:cs typeface="Times New Roman Bold"/>
                <a:sym typeface="Times New Roman Bold"/>
              </a:rPr>
              <a:t> Dashboard Overview</a:t>
            </a:r>
          </a:p>
        </p:txBody>
      </p:sp>
      <p:sp>
        <p:nvSpPr>
          <p:cNvPr name="TextBox 5" id="5"/>
          <p:cNvSpPr txBox="true"/>
          <p:nvPr/>
        </p:nvSpPr>
        <p:spPr>
          <a:xfrm rot="0">
            <a:off x="1897881" y="3158553"/>
            <a:ext cx="15361419" cy="5747456"/>
          </a:xfrm>
          <a:prstGeom prst="rect">
            <a:avLst/>
          </a:prstGeom>
        </p:spPr>
        <p:txBody>
          <a:bodyPr anchor="t" rtlCol="false" tIns="0" lIns="0" bIns="0" rIns="0">
            <a:spAutoFit/>
          </a:bodyPr>
          <a:lstStyle/>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Develope</a:t>
            </a:r>
            <a:r>
              <a:rPr lang="en-US" sz="3597">
                <a:solidFill>
                  <a:srgbClr val="FFFFFF"/>
                </a:solidFill>
                <a:latin typeface="Times New Roman"/>
                <a:ea typeface="Times New Roman"/>
                <a:cs typeface="Times New Roman"/>
                <a:sym typeface="Times New Roman"/>
              </a:rPr>
              <a:t>d an interactive Streamlit application to analyze Ola ride booking data.</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Integrated SQL queries and visualizations to generate business insights from the dataset.</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Implemented dynamic filters and charts for analyzing bookings, revenue, ratings, and cancellations.</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Created a user-friendly dashboard that enables real-time data exploration and decision-making.</a:t>
            </a:r>
          </a:p>
          <a:p>
            <a:pPr algn="l">
              <a:lnSpc>
                <a:spcPts val="5036"/>
              </a:lnSpc>
            </a:pPr>
          </a:p>
        </p:txBody>
      </p:sp>
      <p:sp>
        <p:nvSpPr>
          <p:cNvPr name="Freeform 6" id="6"/>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4"/>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9456655" y="666726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Freeform 4" id="4"/>
          <p:cNvSpPr/>
          <p:nvPr/>
        </p:nvSpPr>
        <p:spPr>
          <a:xfrm flipH="false" flipV="false" rot="0">
            <a:off x="10547408" y="7858776"/>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374925" y="857250"/>
            <a:ext cx="11538149" cy="1207790"/>
          </a:xfrm>
          <a:prstGeom prst="rect">
            <a:avLst/>
          </a:prstGeom>
        </p:spPr>
        <p:txBody>
          <a:bodyPr anchor="t" rtlCol="false" tIns="0" lIns="0" bIns="0" rIns="0">
            <a:spAutoFit/>
          </a:bodyPr>
          <a:lstStyle/>
          <a:p>
            <a:pPr algn="l">
              <a:lnSpc>
                <a:spcPts val="9553"/>
              </a:lnSpc>
            </a:pPr>
            <a:r>
              <a:rPr lang="en-US" sz="6824" b="true">
                <a:solidFill>
                  <a:srgbClr val="FFFFFF"/>
                </a:solidFill>
                <a:latin typeface="Times New Roman Bold"/>
                <a:ea typeface="Times New Roman Bold"/>
                <a:cs typeface="Times New Roman Bold"/>
                <a:sym typeface="Times New Roman Bold"/>
              </a:rPr>
              <a:t>Streamlit</a:t>
            </a:r>
            <a:r>
              <a:rPr lang="en-US" sz="6824" b="true">
                <a:solidFill>
                  <a:srgbClr val="FFFFFF"/>
                </a:solidFill>
                <a:latin typeface="Times New Roman Bold"/>
                <a:ea typeface="Times New Roman Bold"/>
                <a:cs typeface="Times New Roman Bold"/>
                <a:sym typeface="Times New Roman Bold"/>
              </a:rPr>
              <a:t> Dashboard Overview</a:t>
            </a:r>
          </a:p>
        </p:txBody>
      </p:sp>
      <p:sp>
        <p:nvSpPr>
          <p:cNvPr name="Freeform 6" id="6"/>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6"/>
            <a:stretch>
              <a:fillRect l="0" t="0" r="0" b="0"/>
            </a:stretch>
          </a:blipFill>
        </p:spPr>
      </p:sp>
      <p:sp>
        <p:nvSpPr>
          <p:cNvPr name="Freeform 7" id="7"/>
          <p:cNvSpPr/>
          <p:nvPr/>
        </p:nvSpPr>
        <p:spPr>
          <a:xfrm flipH="false" flipV="false" rot="0">
            <a:off x="2026741" y="2559060"/>
            <a:ext cx="14234518" cy="7091664"/>
          </a:xfrm>
          <a:custGeom>
            <a:avLst/>
            <a:gdLst/>
            <a:ahLst/>
            <a:cxnLst/>
            <a:rect r="r" b="b" t="t" l="l"/>
            <a:pathLst>
              <a:path h="7091664" w="14234518">
                <a:moveTo>
                  <a:pt x="0" y="0"/>
                </a:moveTo>
                <a:lnTo>
                  <a:pt x="14234518" y="0"/>
                </a:lnTo>
                <a:lnTo>
                  <a:pt x="14234518" y="7091664"/>
                </a:lnTo>
                <a:lnTo>
                  <a:pt x="0" y="7091664"/>
                </a:lnTo>
                <a:lnTo>
                  <a:pt x="0" y="0"/>
                </a:lnTo>
                <a:close/>
              </a:path>
            </a:pathLst>
          </a:custGeom>
          <a:blipFill>
            <a:blip r:embed="rId7"/>
            <a:stretch>
              <a:fillRect l="-646"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8844239" y="32220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3"/>
            <a:stretch>
              <a:fillRect l="0" t="0" r="0" b="0"/>
            </a:stretch>
          </a:blipFill>
        </p:spPr>
      </p:sp>
      <p:sp>
        <p:nvSpPr>
          <p:cNvPr name="TextBox 4" id="4"/>
          <p:cNvSpPr txBox="true"/>
          <p:nvPr/>
        </p:nvSpPr>
        <p:spPr>
          <a:xfrm rot="0">
            <a:off x="1897881" y="1109522"/>
            <a:ext cx="13198042" cy="1240810"/>
          </a:xfrm>
          <a:prstGeom prst="rect">
            <a:avLst/>
          </a:prstGeom>
        </p:spPr>
        <p:txBody>
          <a:bodyPr anchor="t" rtlCol="false" tIns="0" lIns="0" bIns="0" rIns="0">
            <a:spAutoFit/>
          </a:bodyPr>
          <a:lstStyle/>
          <a:p>
            <a:pPr algn="l">
              <a:lnSpc>
                <a:spcPts val="9833"/>
              </a:lnSpc>
            </a:pPr>
            <a:r>
              <a:rPr lang="en-US" sz="7024" b="true">
                <a:solidFill>
                  <a:srgbClr val="FFFFFF"/>
                </a:solidFill>
                <a:latin typeface="Times New Roman Bold"/>
                <a:ea typeface="Times New Roman Bold"/>
                <a:cs typeface="Times New Roman Bold"/>
                <a:sym typeface="Times New Roman Bold"/>
              </a:rPr>
              <a:t>Power Bi </a:t>
            </a:r>
            <a:r>
              <a:rPr lang="en-US" sz="7024" b="true">
                <a:solidFill>
                  <a:srgbClr val="FFFFFF"/>
                </a:solidFill>
                <a:latin typeface="Times New Roman Bold"/>
                <a:ea typeface="Times New Roman Bold"/>
                <a:cs typeface="Times New Roman Bold"/>
                <a:sym typeface="Times New Roman Bold"/>
              </a:rPr>
              <a:t>Dashboard Overview</a:t>
            </a:r>
          </a:p>
        </p:txBody>
      </p:sp>
      <p:sp>
        <p:nvSpPr>
          <p:cNvPr name="TextBox 5" id="5"/>
          <p:cNvSpPr txBox="true"/>
          <p:nvPr/>
        </p:nvSpPr>
        <p:spPr>
          <a:xfrm rot="0">
            <a:off x="1897881" y="3158553"/>
            <a:ext cx="15361419" cy="5109281"/>
          </a:xfrm>
          <a:prstGeom prst="rect">
            <a:avLst/>
          </a:prstGeom>
        </p:spPr>
        <p:txBody>
          <a:bodyPr anchor="t" rtlCol="false" tIns="0" lIns="0" bIns="0" rIns="0">
            <a:spAutoFit/>
          </a:bodyPr>
          <a:lstStyle/>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Designed an interactive Power BI dashboard to visualize ride booking data and key business metrics.</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Created insightful visualizations for ride volume, booking status, revenue, customer ratings, and cancellations.</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Utilized DAX measures and Power Query transformations to enhance data analysis and reporting.</a:t>
            </a:r>
          </a:p>
          <a:p>
            <a:pPr algn="l" marL="776633" indent="-388316" lvl="1">
              <a:lnSpc>
                <a:spcPts val="5036"/>
              </a:lnSpc>
              <a:buAutoNum type="arabicPeriod" startAt="1"/>
            </a:pPr>
            <a:r>
              <a:rPr lang="en-US" sz="3597">
                <a:solidFill>
                  <a:srgbClr val="FFFFFF"/>
                </a:solidFill>
                <a:latin typeface="Times New Roman"/>
                <a:ea typeface="Times New Roman"/>
                <a:cs typeface="Times New Roman"/>
                <a:sym typeface="Times New Roman"/>
              </a:rPr>
              <a:t>Enabled data-driven decision-making through interactive filters, KPIs, and dynamic reports.</a:t>
            </a:r>
          </a:p>
        </p:txBody>
      </p:sp>
      <p:sp>
        <p:nvSpPr>
          <p:cNvPr name="Freeform 6" id="6"/>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4001E"/>
        </a:solidFill>
      </p:bgPr>
    </p:bg>
    <p:spTree>
      <p:nvGrpSpPr>
        <p:cNvPr id="1" name=""/>
        <p:cNvGrpSpPr/>
        <p:nvPr/>
      </p:nvGrpSpPr>
      <p:grpSpPr>
        <a:xfrm>
          <a:off x="0" y="0"/>
          <a:ext cx="0" cy="0"/>
          <a:chOff x="0" y="0"/>
          <a:chExt cx="0" cy="0"/>
        </a:xfrm>
      </p:grpSpPr>
      <p:sp>
        <p:nvSpPr>
          <p:cNvPr name="Freeform 2" id="2"/>
          <p:cNvSpPr/>
          <p:nvPr/>
        </p:nvSpPr>
        <p:spPr>
          <a:xfrm flipH="true" flipV="false" rot="6626729">
            <a:off x="9456655" y="6667261"/>
            <a:ext cx="12221289" cy="8822969"/>
          </a:xfrm>
          <a:custGeom>
            <a:avLst/>
            <a:gdLst/>
            <a:ahLst/>
            <a:cxnLst/>
            <a:rect r="r" b="b" t="t" l="l"/>
            <a:pathLst>
              <a:path h="8822969" w="12221289">
                <a:moveTo>
                  <a:pt x="12221289" y="0"/>
                </a:moveTo>
                <a:lnTo>
                  <a:pt x="0" y="0"/>
                </a:lnTo>
                <a:lnTo>
                  <a:pt x="0" y="8822969"/>
                </a:lnTo>
                <a:lnTo>
                  <a:pt x="12221289" y="8822969"/>
                </a:lnTo>
                <a:lnTo>
                  <a:pt x="12221289" y="0"/>
                </a:lnTo>
                <a:close/>
              </a:path>
            </a:pathLst>
          </a:custGeom>
          <a:blipFill>
            <a:blip r:embed="rId2"/>
            <a:stretch>
              <a:fillRect l="0" t="0" r="0" b="0"/>
            </a:stretch>
          </a:blipFill>
        </p:spPr>
      </p:sp>
      <p:sp>
        <p:nvSpPr>
          <p:cNvPr name="Freeform 3" id="3"/>
          <p:cNvSpPr/>
          <p:nvPr/>
        </p:nvSpPr>
        <p:spPr>
          <a:xfrm flipH="false" flipV="false" rot="0">
            <a:off x="16022529" y="8139079"/>
            <a:ext cx="896420" cy="896420"/>
          </a:xfrm>
          <a:custGeom>
            <a:avLst/>
            <a:gdLst/>
            <a:ahLst/>
            <a:cxnLst/>
            <a:rect r="r" b="b" t="t" l="l"/>
            <a:pathLst>
              <a:path h="896420" w="896420">
                <a:moveTo>
                  <a:pt x="0" y="0"/>
                </a:moveTo>
                <a:lnTo>
                  <a:pt x="896421" y="0"/>
                </a:lnTo>
                <a:lnTo>
                  <a:pt x="896421" y="896421"/>
                </a:lnTo>
                <a:lnTo>
                  <a:pt x="0" y="896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97881" y="1109522"/>
            <a:ext cx="13198042" cy="1207790"/>
          </a:xfrm>
          <a:prstGeom prst="rect">
            <a:avLst/>
          </a:prstGeom>
        </p:spPr>
        <p:txBody>
          <a:bodyPr anchor="t" rtlCol="false" tIns="0" lIns="0" bIns="0" rIns="0">
            <a:spAutoFit/>
          </a:bodyPr>
          <a:lstStyle/>
          <a:p>
            <a:pPr algn="ctr">
              <a:lnSpc>
                <a:spcPts val="9553"/>
              </a:lnSpc>
            </a:pPr>
            <a:r>
              <a:rPr lang="en-US" sz="6824" b="true">
                <a:solidFill>
                  <a:srgbClr val="FFFFFF"/>
                </a:solidFill>
                <a:latin typeface="Times New Roman Bold"/>
                <a:ea typeface="Times New Roman Bold"/>
                <a:cs typeface="Times New Roman Bold"/>
                <a:sym typeface="Times New Roman Bold"/>
              </a:rPr>
              <a:t>Power Bi </a:t>
            </a:r>
            <a:r>
              <a:rPr lang="en-US" b="true" sz="6824">
                <a:solidFill>
                  <a:srgbClr val="FFFFFF"/>
                </a:solidFill>
                <a:latin typeface="Times New Roman Bold"/>
                <a:ea typeface="Times New Roman Bold"/>
                <a:cs typeface="Times New Roman Bold"/>
                <a:sym typeface="Times New Roman Bold"/>
              </a:rPr>
              <a:t>Dashboard Overview</a:t>
            </a:r>
          </a:p>
        </p:txBody>
      </p:sp>
      <p:sp>
        <p:nvSpPr>
          <p:cNvPr name="Freeform 5" id="5"/>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5"/>
            <a:stretch>
              <a:fillRect l="0" t="0" r="0" b="0"/>
            </a:stretch>
          </a:blipFill>
        </p:spPr>
      </p:sp>
      <p:sp>
        <p:nvSpPr>
          <p:cNvPr name="Freeform 6" id="6"/>
          <p:cNvSpPr/>
          <p:nvPr/>
        </p:nvSpPr>
        <p:spPr>
          <a:xfrm flipH="false" flipV="false" rot="0">
            <a:off x="1897881" y="2709736"/>
            <a:ext cx="5697895" cy="3339696"/>
          </a:xfrm>
          <a:custGeom>
            <a:avLst/>
            <a:gdLst/>
            <a:ahLst/>
            <a:cxnLst/>
            <a:rect r="r" b="b" t="t" l="l"/>
            <a:pathLst>
              <a:path h="3339696" w="5697895">
                <a:moveTo>
                  <a:pt x="0" y="0"/>
                </a:moveTo>
                <a:lnTo>
                  <a:pt x="5697895" y="0"/>
                </a:lnTo>
                <a:lnTo>
                  <a:pt x="5697895" y="3339696"/>
                </a:lnTo>
                <a:lnTo>
                  <a:pt x="0" y="3339696"/>
                </a:lnTo>
                <a:lnTo>
                  <a:pt x="0" y="0"/>
                </a:lnTo>
                <a:close/>
              </a:path>
            </a:pathLst>
          </a:custGeom>
          <a:blipFill>
            <a:blip r:embed="rId6"/>
            <a:stretch>
              <a:fillRect l="0" t="0" r="0" b="0"/>
            </a:stretch>
          </a:blipFill>
        </p:spPr>
      </p:sp>
      <p:sp>
        <p:nvSpPr>
          <p:cNvPr name="Freeform 7" id="7"/>
          <p:cNvSpPr/>
          <p:nvPr/>
        </p:nvSpPr>
        <p:spPr>
          <a:xfrm flipH="false" flipV="false" rot="0">
            <a:off x="8039169" y="2709736"/>
            <a:ext cx="5698188" cy="3339696"/>
          </a:xfrm>
          <a:custGeom>
            <a:avLst/>
            <a:gdLst/>
            <a:ahLst/>
            <a:cxnLst/>
            <a:rect r="r" b="b" t="t" l="l"/>
            <a:pathLst>
              <a:path h="3339696" w="5698188">
                <a:moveTo>
                  <a:pt x="0" y="0"/>
                </a:moveTo>
                <a:lnTo>
                  <a:pt x="5698188" y="0"/>
                </a:lnTo>
                <a:lnTo>
                  <a:pt x="5698188" y="3339696"/>
                </a:lnTo>
                <a:lnTo>
                  <a:pt x="0" y="3339696"/>
                </a:lnTo>
                <a:lnTo>
                  <a:pt x="0" y="0"/>
                </a:lnTo>
                <a:close/>
              </a:path>
            </a:pathLst>
          </a:custGeom>
          <a:blipFill>
            <a:blip r:embed="rId7"/>
            <a:stretch>
              <a:fillRect l="0" t="0" r="0" b="0"/>
            </a:stretch>
          </a:blipFill>
        </p:spPr>
      </p:sp>
      <p:sp>
        <p:nvSpPr>
          <p:cNvPr name="Freeform 8" id="8"/>
          <p:cNvSpPr/>
          <p:nvPr/>
        </p:nvSpPr>
        <p:spPr>
          <a:xfrm flipH="false" flipV="false" rot="0">
            <a:off x="1897881" y="6435493"/>
            <a:ext cx="5697895" cy="3407172"/>
          </a:xfrm>
          <a:custGeom>
            <a:avLst/>
            <a:gdLst/>
            <a:ahLst/>
            <a:cxnLst/>
            <a:rect r="r" b="b" t="t" l="l"/>
            <a:pathLst>
              <a:path h="3407172" w="5697895">
                <a:moveTo>
                  <a:pt x="0" y="0"/>
                </a:moveTo>
                <a:lnTo>
                  <a:pt x="5697895" y="0"/>
                </a:lnTo>
                <a:lnTo>
                  <a:pt x="5697895" y="3407172"/>
                </a:lnTo>
                <a:lnTo>
                  <a:pt x="0" y="3407172"/>
                </a:lnTo>
                <a:lnTo>
                  <a:pt x="0" y="0"/>
                </a:lnTo>
                <a:close/>
              </a:path>
            </a:pathLst>
          </a:custGeom>
          <a:blipFill>
            <a:blip r:embed="rId8"/>
            <a:stretch>
              <a:fillRect l="0" t="0" r="0" b="0"/>
            </a:stretch>
          </a:blipFill>
        </p:spPr>
      </p:sp>
      <p:sp>
        <p:nvSpPr>
          <p:cNvPr name="Freeform 9" id="9"/>
          <p:cNvSpPr/>
          <p:nvPr/>
        </p:nvSpPr>
        <p:spPr>
          <a:xfrm flipH="false" flipV="false" rot="0">
            <a:off x="8039169" y="6439957"/>
            <a:ext cx="5742375" cy="3407172"/>
          </a:xfrm>
          <a:custGeom>
            <a:avLst/>
            <a:gdLst/>
            <a:ahLst/>
            <a:cxnLst/>
            <a:rect r="r" b="b" t="t" l="l"/>
            <a:pathLst>
              <a:path h="3407172" w="5742375">
                <a:moveTo>
                  <a:pt x="0" y="0"/>
                </a:moveTo>
                <a:lnTo>
                  <a:pt x="5742375" y="0"/>
                </a:lnTo>
                <a:lnTo>
                  <a:pt x="5742375" y="3407173"/>
                </a:lnTo>
                <a:lnTo>
                  <a:pt x="0" y="3407173"/>
                </a:lnTo>
                <a:lnTo>
                  <a:pt x="0" y="0"/>
                </a:lnTo>
                <a:close/>
              </a:path>
            </a:pathLst>
          </a:custGeom>
          <a:blipFill>
            <a:blip r:embed="rId9"/>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4255355" y="46215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6362880" y="8130249"/>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855290" y="1948388"/>
            <a:ext cx="14339066" cy="7214140"/>
            <a:chOff x="0" y="0"/>
            <a:chExt cx="19118754" cy="9618854"/>
          </a:xfrm>
        </p:grpSpPr>
        <p:grpSp>
          <p:nvGrpSpPr>
            <p:cNvPr name="Group 6" id="6"/>
            <p:cNvGrpSpPr/>
            <p:nvPr/>
          </p:nvGrpSpPr>
          <p:grpSpPr>
            <a:xfrm rot="0">
              <a:off x="0" y="0"/>
              <a:ext cx="19118754" cy="9618854"/>
              <a:chOff x="0" y="0"/>
              <a:chExt cx="3643583" cy="1833126"/>
            </a:xfrm>
          </p:grpSpPr>
          <p:sp>
            <p:nvSpPr>
              <p:cNvPr name="Freeform 7" id="7"/>
              <p:cNvSpPr/>
              <p:nvPr/>
            </p:nvSpPr>
            <p:spPr>
              <a:xfrm flipH="false" flipV="false" rot="0">
                <a:off x="0" y="0"/>
                <a:ext cx="3643583" cy="1833126"/>
              </a:xfrm>
              <a:custGeom>
                <a:avLst/>
                <a:gdLst/>
                <a:ahLst/>
                <a:cxnLst/>
                <a:rect r="r" b="b" t="t" l="l"/>
                <a:pathLst>
                  <a:path h="1833126" w="3643583">
                    <a:moveTo>
                      <a:pt x="11192" y="0"/>
                    </a:moveTo>
                    <a:lnTo>
                      <a:pt x="3632391" y="0"/>
                    </a:lnTo>
                    <a:cubicBezTo>
                      <a:pt x="3635359" y="0"/>
                      <a:pt x="3638206" y="1179"/>
                      <a:pt x="3640305" y="3278"/>
                    </a:cubicBezTo>
                    <a:cubicBezTo>
                      <a:pt x="3642404" y="5377"/>
                      <a:pt x="3643583" y="8224"/>
                      <a:pt x="3643583" y="11192"/>
                    </a:cubicBezTo>
                    <a:lnTo>
                      <a:pt x="3643583" y="1821934"/>
                    </a:lnTo>
                    <a:cubicBezTo>
                      <a:pt x="3643583" y="1828116"/>
                      <a:pt x="3638572" y="1833126"/>
                      <a:pt x="3632391" y="1833126"/>
                    </a:cubicBezTo>
                    <a:lnTo>
                      <a:pt x="11192" y="1833126"/>
                    </a:lnTo>
                    <a:cubicBezTo>
                      <a:pt x="8224" y="1833126"/>
                      <a:pt x="5377" y="1831947"/>
                      <a:pt x="3278" y="1829848"/>
                    </a:cubicBezTo>
                    <a:cubicBezTo>
                      <a:pt x="1179" y="1827749"/>
                      <a:pt x="0" y="1824903"/>
                      <a:pt x="0" y="1821934"/>
                    </a:cubicBezTo>
                    <a:lnTo>
                      <a:pt x="0" y="11192"/>
                    </a:lnTo>
                    <a:cubicBezTo>
                      <a:pt x="0" y="8224"/>
                      <a:pt x="1179" y="5377"/>
                      <a:pt x="3278" y="3278"/>
                    </a:cubicBezTo>
                    <a:cubicBezTo>
                      <a:pt x="5377" y="1179"/>
                      <a:pt x="8224" y="0"/>
                      <a:pt x="11192" y="0"/>
                    </a:cubicBezTo>
                    <a:close/>
                  </a:path>
                </a:pathLst>
              </a:custGeom>
              <a:solidFill>
                <a:srgbClr val="04001E"/>
              </a:solidFill>
              <a:ln w="38100" cap="sq">
                <a:solidFill>
                  <a:srgbClr val="E5E1DA"/>
                </a:solidFill>
                <a:prstDash val="solid"/>
                <a:miter/>
              </a:ln>
            </p:spPr>
          </p:sp>
          <p:sp>
            <p:nvSpPr>
              <p:cNvPr name="TextBox 8" id="8"/>
              <p:cNvSpPr txBox="true"/>
              <p:nvPr/>
            </p:nvSpPr>
            <p:spPr>
              <a:xfrm>
                <a:off x="0" y="-57150"/>
                <a:ext cx="3643583" cy="1890276"/>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1359612" y="1025622"/>
              <a:ext cx="15851610" cy="847259"/>
            </a:xfrm>
            <a:prstGeom prst="rect">
              <a:avLst/>
            </a:prstGeom>
          </p:spPr>
          <p:txBody>
            <a:bodyPr anchor="t" rtlCol="false" tIns="0" lIns="0" bIns="0" rIns="0">
              <a:spAutoFit/>
            </a:bodyPr>
            <a:lstStyle/>
            <a:p>
              <a:pPr algn="l">
                <a:lnSpc>
                  <a:spcPts val="4416"/>
                </a:lnSpc>
              </a:pPr>
              <a:r>
                <a:rPr lang="en-US" sz="4553" b="true">
                  <a:solidFill>
                    <a:srgbClr val="F4F4ED"/>
                  </a:solidFill>
                  <a:latin typeface="Times New Roman Bold"/>
                  <a:ea typeface="Times New Roman Bold"/>
                  <a:cs typeface="Times New Roman Bold"/>
                  <a:sym typeface="Times New Roman Bold"/>
                </a:rPr>
                <a:t>Conclusion &amp; Future Scope</a:t>
              </a:r>
            </a:p>
          </p:txBody>
        </p:sp>
        <p:sp>
          <p:nvSpPr>
            <p:cNvPr name="TextBox 10" id="10"/>
            <p:cNvSpPr txBox="true"/>
            <p:nvPr/>
          </p:nvSpPr>
          <p:spPr>
            <a:xfrm rot="0">
              <a:off x="1359612" y="2099696"/>
              <a:ext cx="16632223" cy="6131029"/>
            </a:xfrm>
            <a:prstGeom prst="rect">
              <a:avLst/>
            </a:prstGeom>
          </p:spPr>
          <p:txBody>
            <a:bodyPr anchor="t" rtlCol="false" tIns="0" lIns="0" bIns="0" rIns="0">
              <a:spAutoFit/>
            </a:bodyPr>
            <a:lstStyle/>
            <a:p>
              <a:pPr algn="l" marL="0" indent="0" lvl="0">
                <a:lnSpc>
                  <a:spcPts val="3369"/>
                </a:lnSpc>
                <a:spcBef>
                  <a:spcPct val="0"/>
                </a:spcBef>
              </a:pPr>
              <a:r>
                <a:rPr lang="en-US" b="true" sz="2495" spc="149">
                  <a:solidFill>
                    <a:srgbClr val="F4F4ED"/>
                  </a:solidFill>
                  <a:latin typeface="Times New Roman Bold"/>
                  <a:ea typeface="Times New Roman Bold"/>
                  <a:cs typeface="Times New Roman Bold"/>
                  <a:sym typeface="Times New Roman Bold"/>
                </a:rPr>
                <a:t>C</a:t>
              </a:r>
              <a:r>
                <a:rPr lang="en-US" b="true" sz="2495" spc="149" u="none">
                  <a:solidFill>
                    <a:srgbClr val="F4F4ED"/>
                  </a:solidFill>
                  <a:latin typeface="Times New Roman Bold"/>
                  <a:ea typeface="Times New Roman Bold"/>
                  <a:cs typeface="Times New Roman Bold"/>
                  <a:sym typeface="Times New Roman Bold"/>
                </a:rPr>
                <a:t>onclusion</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Successfully analyzed ride booking data using SQL, Power BI, and Streamlit.</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Generated actionable business insights through interactive dashboards.</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Improved understanding of customer behavior and operational performance.</a:t>
              </a:r>
            </a:p>
            <a:p>
              <a:pPr algn="l">
                <a:lnSpc>
                  <a:spcPts val="3369"/>
                </a:lnSpc>
                <a:spcBef>
                  <a:spcPct val="0"/>
                </a:spcBef>
              </a:pPr>
            </a:p>
            <a:p>
              <a:pPr algn="l" marL="0" indent="0" lvl="0">
                <a:lnSpc>
                  <a:spcPts val="3369"/>
                </a:lnSpc>
                <a:spcBef>
                  <a:spcPct val="0"/>
                </a:spcBef>
              </a:pPr>
              <a:r>
                <a:rPr lang="en-US" b="true" sz="2495" spc="149" u="none">
                  <a:solidFill>
                    <a:srgbClr val="F4F4ED"/>
                  </a:solidFill>
                  <a:latin typeface="Times New Roman Bold"/>
                  <a:ea typeface="Times New Roman Bold"/>
                  <a:cs typeface="Times New Roman Bold"/>
                  <a:sym typeface="Times New Roman Bold"/>
                </a:rPr>
                <a:t>Future Scope</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Real-time dashboard integration.</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Predictive analytics for ride demand forecasting.</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Customer churn prediction.</a:t>
              </a:r>
            </a:p>
            <a:p>
              <a:pPr algn="l" marL="538867" indent="-269433" lvl="1">
                <a:lnSpc>
                  <a:spcPts val="3369"/>
                </a:lnSpc>
                <a:spcBef>
                  <a:spcPct val="0"/>
                </a:spcBef>
                <a:buFont typeface="Arial"/>
                <a:buChar char="•"/>
              </a:pPr>
              <a:r>
                <a:rPr lang="en-US" sz="2495" spc="149" u="none">
                  <a:solidFill>
                    <a:srgbClr val="F4F4ED"/>
                  </a:solidFill>
                  <a:latin typeface="Times New Roman"/>
                  <a:ea typeface="Times New Roman"/>
                  <a:cs typeface="Times New Roman"/>
                  <a:sym typeface="Times New Roman"/>
                </a:rPr>
                <a:t>Driver performance optimization.</a:t>
              </a:r>
            </a:p>
            <a:p>
              <a:pPr algn="l" marL="0" indent="0" lvl="0">
                <a:lnSpc>
                  <a:spcPts val="3369"/>
                </a:lnSpc>
                <a:spcBef>
                  <a:spcPct val="0"/>
                </a:spcBef>
              </a:pPr>
            </a:p>
          </p:txBody>
        </p:sp>
      </p:grpSp>
      <p:sp>
        <p:nvSpPr>
          <p:cNvPr name="Freeform 11" id="11"/>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6626729">
            <a:off x="-4255355" y="462151"/>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4" id="4"/>
          <p:cNvSpPr/>
          <p:nvPr/>
        </p:nvSpPr>
        <p:spPr>
          <a:xfrm flipH="false" flipV="false" rot="0">
            <a:off x="13553585" y="680804"/>
            <a:ext cx="3365365" cy="695793"/>
          </a:xfrm>
          <a:custGeom>
            <a:avLst/>
            <a:gdLst/>
            <a:ahLst/>
            <a:cxnLst/>
            <a:rect r="r" b="b" t="t" l="l"/>
            <a:pathLst>
              <a:path h="695793" w="3365365">
                <a:moveTo>
                  <a:pt x="0" y="0"/>
                </a:moveTo>
                <a:lnTo>
                  <a:pt x="3365365" y="0"/>
                </a:lnTo>
                <a:lnTo>
                  <a:pt x="3365365" y="695792"/>
                </a:lnTo>
                <a:lnTo>
                  <a:pt x="0" y="695792"/>
                </a:lnTo>
                <a:lnTo>
                  <a:pt x="0" y="0"/>
                </a:lnTo>
                <a:close/>
              </a:path>
            </a:pathLst>
          </a:custGeom>
          <a:blipFill>
            <a:blip r:embed="rId4"/>
            <a:stretch>
              <a:fillRect l="0" t="0" r="0" b="0"/>
            </a:stretch>
          </a:blipFill>
        </p:spPr>
      </p:sp>
      <p:sp>
        <p:nvSpPr>
          <p:cNvPr name="TextBox 5" id="5"/>
          <p:cNvSpPr txBox="true"/>
          <p:nvPr/>
        </p:nvSpPr>
        <p:spPr>
          <a:xfrm rot="0">
            <a:off x="6500809" y="4350262"/>
            <a:ext cx="7232978" cy="1189621"/>
          </a:xfrm>
          <a:prstGeom prst="rect">
            <a:avLst/>
          </a:prstGeom>
        </p:spPr>
        <p:txBody>
          <a:bodyPr anchor="t" rtlCol="false" tIns="0" lIns="0" bIns="0" rIns="0">
            <a:spAutoFit/>
          </a:bodyPr>
          <a:lstStyle/>
          <a:p>
            <a:pPr algn="l">
              <a:lnSpc>
                <a:spcPts val="8506"/>
              </a:lnSpc>
            </a:pPr>
            <a:r>
              <a:rPr lang="en-US" sz="8769" b="true">
                <a:solidFill>
                  <a:srgbClr val="F4F4ED"/>
                </a:solidFill>
                <a:latin typeface="Times New Roman Bold"/>
                <a:ea typeface="Times New Roman Bold"/>
                <a:cs typeface="Times New Roman Bold"/>
                <a:sym typeface="Times New Roman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DAHNQ6WYg9I</dc:identifier>
  <dcterms:modified xsi:type="dcterms:W3CDTF">2011-08-01T06:04:30Z</dcterms:modified>
  <cp:revision>1</cp:revision>
  <dc:title>OLA Ride Booking Analysis Dashboard</dc:title>
</cp:coreProperties>
</file>